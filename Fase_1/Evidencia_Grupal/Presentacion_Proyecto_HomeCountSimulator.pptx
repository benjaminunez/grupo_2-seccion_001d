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al Nova Bold" panose="020B0604020202020204" charset="0"/>
      <p:regular r:id="rId12"/>
    </p:embeddedFont>
    <p:embeddedFont>
      <p:font typeface="Josefin Sans Light" pitchFamily="2" charset="0"/>
      <p:regular r:id="rId13"/>
    </p:embeddedFont>
    <p:embeddedFont>
      <p:font typeface="Montaser Arabic" panose="020B0604020202020204" charset="-78"/>
      <p:regular r:id="rId14"/>
    </p:embeddedFont>
    <p:embeddedFont>
      <p:font typeface="Montaser Arabic Bold" panose="020B0604020202020204" charset="-78"/>
      <p:regular r:id="rId15"/>
    </p:embeddedFont>
    <p:embeddedFont>
      <p:font typeface="Open Sans Bold" panose="020B0604020202020204" charset="0"/>
      <p:regular r:id="rId16"/>
    </p:embeddedFont>
    <p:embeddedFont>
      <p:font typeface="Public Sans" panose="020B0604020202020204" charset="0"/>
      <p:regular r:id="rId17"/>
    </p:embeddedFont>
    <p:embeddedFont>
      <p:font typeface="Public Sans Bold" panose="020B0604020202020204" charset="0"/>
      <p:regular r:id="rId18"/>
    </p:embeddedFont>
    <p:embeddedFont>
      <p:font typeface="Quattrocento Bold" panose="020B0604020202020204" charset="0"/>
      <p:regular r:id="rId19"/>
    </p:embeddedFont>
    <p:embeddedFont>
      <p:font typeface="Raleway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124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.svg"/><Relationship Id="rId7" Type="http://schemas.openxmlformats.org/officeDocument/2006/relationships/image" Target="../media/image2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4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4.pn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4.pn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1.svg"/><Relationship Id="rId7" Type="http://schemas.openxmlformats.org/officeDocument/2006/relationships/image" Target="../media/image3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8493649" y="-316837"/>
            <a:ext cx="10183529" cy="10920675"/>
          </a:xfrm>
          <a:custGeom>
            <a:avLst/>
            <a:gdLst/>
            <a:ahLst/>
            <a:cxnLst/>
            <a:rect l="l" t="t" r="r" b="b"/>
            <a:pathLst>
              <a:path w="10183529" h="10920675">
                <a:moveTo>
                  <a:pt x="10183529" y="0"/>
                </a:moveTo>
                <a:lnTo>
                  <a:pt x="0" y="0"/>
                </a:lnTo>
                <a:lnTo>
                  <a:pt x="0" y="10920674"/>
                </a:lnTo>
                <a:lnTo>
                  <a:pt x="10183529" y="10920674"/>
                </a:lnTo>
                <a:lnTo>
                  <a:pt x="1018352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4138626" y="-1028700"/>
            <a:ext cx="5192177" cy="4114800"/>
          </a:xfrm>
          <a:custGeom>
            <a:avLst/>
            <a:gdLst/>
            <a:ahLst/>
            <a:cxnLst/>
            <a:rect l="l" t="t" r="r" b="b"/>
            <a:pathLst>
              <a:path w="5192177" h="4114800">
                <a:moveTo>
                  <a:pt x="0" y="0"/>
                </a:moveTo>
                <a:lnTo>
                  <a:pt x="5192177" y="0"/>
                </a:lnTo>
                <a:lnTo>
                  <a:pt x="51921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11996657" y="344480"/>
            <a:ext cx="5836806" cy="9598040"/>
            <a:chOff x="0" y="0"/>
            <a:chExt cx="777505" cy="12785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7505" cy="1278529"/>
            </a:xfrm>
            <a:custGeom>
              <a:avLst/>
              <a:gdLst/>
              <a:ahLst/>
              <a:cxnLst/>
              <a:rect l="l" t="t" r="r" b="b"/>
              <a:pathLst>
                <a:path w="777505" h="1278529">
                  <a:moveTo>
                    <a:pt x="259308" y="19070"/>
                  </a:moveTo>
                  <a:cubicBezTo>
                    <a:pt x="299040" y="7556"/>
                    <a:pt x="344486" y="0"/>
                    <a:pt x="388962" y="0"/>
                  </a:cubicBezTo>
                  <a:cubicBezTo>
                    <a:pt x="433440" y="0"/>
                    <a:pt x="476238" y="6476"/>
                    <a:pt x="515679" y="17990"/>
                  </a:cubicBezTo>
                  <a:cubicBezTo>
                    <a:pt x="516519" y="18350"/>
                    <a:pt x="517358" y="18350"/>
                    <a:pt x="518197" y="18710"/>
                  </a:cubicBezTo>
                  <a:cubicBezTo>
                    <a:pt x="666313" y="64765"/>
                    <a:pt x="775407" y="186379"/>
                    <a:pt x="777505" y="338847"/>
                  </a:cubicBezTo>
                  <a:lnTo>
                    <a:pt x="777505" y="1192313"/>
                  </a:lnTo>
                  <a:cubicBezTo>
                    <a:pt x="777505" y="1215179"/>
                    <a:pt x="768422" y="1237108"/>
                    <a:pt x="752253" y="1253277"/>
                  </a:cubicBezTo>
                  <a:cubicBezTo>
                    <a:pt x="736084" y="1269445"/>
                    <a:pt x="714155" y="1278529"/>
                    <a:pt x="691289" y="1278529"/>
                  </a:cubicBezTo>
                  <a:lnTo>
                    <a:pt x="86216" y="1278529"/>
                  </a:lnTo>
                  <a:cubicBezTo>
                    <a:pt x="63350" y="1278529"/>
                    <a:pt x="41421" y="1269445"/>
                    <a:pt x="25252" y="1253277"/>
                  </a:cubicBezTo>
                  <a:cubicBezTo>
                    <a:pt x="9083" y="1237108"/>
                    <a:pt x="0" y="1215179"/>
                    <a:pt x="0" y="1192313"/>
                  </a:cubicBezTo>
                  <a:lnTo>
                    <a:pt x="0" y="339545"/>
                  </a:lnTo>
                  <a:cubicBezTo>
                    <a:pt x="2098" y="185660"/>
                    <a:pt x="109514" y="64045"/>
                    <a:pt x="259308" y="19070"/>
                  </a:cubicBezTo>
                  <a:lnTo>
                    <a:pt x="259308" y="19070"/>
                  </a:lnTo>
                  <a:close/>
                </a:path>
              </a:pathLst>
            </a:custGeom>
            <a:blipFill>
              <a:blip r:embed="rId4"/>
              <a:stretch>
                <a:fillRect l="-72716" r="-7271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7293589" y="573807"/>
            <a:ext cx="3700822" cy="909785"/>
          </a:xfrm>
          <a:custGeom>
            <a:avLst/>
            <a:gdLst/>
            <a:ahLst/>
            <a:cxnLst/>
            <a:rect l="l" t="t" r="r" b="b"/>
            <a:pathLst>
              <a:path w="3700822" h="909785">
                <a:moveTo>
                  <a:pt x="0" y="0"/>
                </a:moveTo>
                <a:lnTo>
                  <a:pt x="3700822" y="0"/>
                </a:lnTo>
                <a:lnTo>
                  <a:pt x="3700822" y="909786"/>
                </a:lnTo>
                <a:lnTo>
                  <a:pt x="0" y="9097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443678" y="2584327"/>
            <a:ext cx="10552979" cy="274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20"/>
              </a:lnSpc>
            </a:pPr>
            <a:r>
              <a:rPr lang="en-US" sz="12000" b="1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HomeCount</a:t>
            </a:r>
          </a:p>
          <a:p>
            <a:pPr marL="0" lvl="0" indent="0" algn="ctr">
              <a:lnSpc>
                <a:spcPts val="10320"/>
              </a:lnSpc>
            </a:pPr>
            <a:r>
              <a:rPr lang="en-US" sz="12000" b="1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Simulator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90370" y="5642564"/>
            <a:ext cx="8505797" cy="2790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78"/>
              </a:lnSpc>
            </a:pPr>
            <a:r>
              <a:rPr lang="en-US" sz="227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270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ntegrantes :</a:t>
            </a:r>
            <a:r>
              <a:rPr lang="en-US" sz="227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marL="490110" lvl="1" indent="-245055" algn="just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Benjamin Casellas Madrid · Lucas Padilla Aliaga</a:t>
            </a:r>
          </a:p>
          <a:p>
            <a:pPr marL="490110" lvl="1" indent="-245055" algn="just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Benjamín Núñez Arancibia · Emilio Castro González</a:t>
            </a:r>
          </a:p>
          <a:p>
            <a:pPr marL="0" lvl="0" indent="0" algn="just">
              <a:lnSpc>
                <a:spcPts val="3178"/>
              </a:lnSpc>
            </a:pPr>
            <a:r>
              <a:rPr lang="en-US" sz="2270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Docente :</a:t>
            </a:r>
          </a:p>
          <a:p>
            <a:pPr marL="490110" lvl="1" indent="-245055" algn="just">
              <a:lnSpc>
                <a:spcPts val="3178"/>
              </a:lnSpc>
              <a:buFont typeface="Arial"/>
              <a:buChar char="•"/>
            </a:pPr>
            <a:r>
              <a:rPr lang="en-US" sz="227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Juan Andres Hernandez Aliaga</a:t>
            </a:r>
          </a:p>
          <a:p>
            <a:pPr algn="just">
              <a:lnSpc>
                <a:spcPts val="3178"/>
              </a:lnSpc>
            </a:pPr>
            <a:r>
              <a:rPr lang="en-US" sz="2270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Sección:</a:t>
            </a:r>
          </a:p>
          <a:p>
            <a:pPr marL="490110" lvl="1" indent="-245055" algn="just">
              <a:lnSpc>
                <a:spcPts val="3178"/>
              </a:lnSpc>
              <a:buFont typeface="Arial"/>
              <a:buChar char="•"/>
            </a:pPr>
            <a:r>
              <a:rPr lang="en-US" sz="2270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001D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B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1641768" y="1067276"/>
            <a:ext cx="10287000" cy="8152448"/>
          </a:xfrm>
          <a:custGeom>
            <a:avLst/>
            <a:gdLst/>
            <a:ahLst/>
            <a:cxnLst/>
            <a:rect l="l" t="t" r="r" b="b"/>
            <a:pathLst>
              <a:path w="10287000" h="8152448">
                <a:moveTo>
                  <a:pt x="0" y="0"/>
                </a:moveTo>
                <a:lnTo>
                  <a:pt x="10287000" y="0"/>
                </a:lnTo>
                <a:lnTo>
                  <a:pt x="10287000" y="8152448"/>
                </a:lnTo>
                <a:lnTo>
                  <a:pt x="0" y="815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992456" y="855833"/>
            <a:ext cx="5018552" cy="8252502"/>
            <a:chOff x="0" y="0"/>
            <a:chExt cx="777505" cy="12785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7505" cy="1278529"/>
            </a:xfrm>
            <a:custGeom>
              <a:avLst/>
              <a:gdLst/>
              <a:ahLst/>
              <a:cxnLst/>
              <a:rect l="l" t="t" r="r" b="b"/>
              <a:pathLst>
                <a:path w="777505" h="1278529">
                  <a:moveTo>
                    <a:pt x="259308" y="19070"/>
                  </a:moveTo>
                  <a:cubicBezTo>
                    <a:pt x="299040" y="7556"/>
                    <a:pt x="344486" y="0"/>
                    <a:pt x="388962" y="0"/>
                  </a:cubicBezTo>
                  <a:cubicBezTo>
                    <a:pt x="433440" y="0"/>
                    <a:pt x="476238" y="6476"/>
                    <a:pt x="515679" y="17990"/>
                  </a:cubicBezTo>
                  <a:cubicBezTo>
                    <a:pt x="516519" y="18350"/>
                    <a:pt x="517358" y="18350"/>
                    <a:pt x="518197" y="18710"/>
                  </a:cubicBezTo>
                  <a:cubicBezTo>
                    <a:pt x="666313" y="64765"/>
                    <a:pt x="775407" y="186379"/>
                    <a:pt x="777505" y="338847"/>
                  </a:cubicBezTo>
                  <a:lnTo>
                    <a:pt x="777505" y="1178256"/>
                  </a:lnTo>
                  <a:cubicBezTo>
                    <a:pt x="777505" y="1204850"/>
                    <a:pt x="766941" y="1230354"/>
                    <a:pt x="748136" y="1249159"/>
                  </a:cubicBezTo>
                  <a:cubicBezTo>
                    <a:pt x="729331" y="1267964"/>
                    <a:pt x="703826" y="1278529"/>
                    <a:pt x="677232" y="1278529"/>
                  </a:cubicBezTo>
                  <a:lnTo>
                    <a:pt x="100273" y="1278529"/>
                  </a:lnTo>
                  <a:cubicBezTo>
                    <a:pt x="73679" y="1278529"/>
                    <a:pt x="48174" y="1267964"/>
                    <a:pt x="29369" y="1249159"/>
                  </a:cubicBezTo>
                  <a:cubicBezTo>
                    <a:pt x="10564" y="1230354"/>
                    <a:pt x="0" y="1204850"/>
                    <a:pt x="0" y="1178256"/>
                  </a:cubicBezTo>
                  <a:lnTo>
                    <a:pt x="0" y="339545"/>
                  </a:lnTo>
                  <a:cubicBezTo>
                    <a:pt x="2098" y="185660"/>
                    <a:pt x="109514" y="64045"/>
                    <a:pt x="259308" y="19070"/>
                  </a:cubicBezTo>
                  <a:lnTo>
                    <a:pt x="259308" y="19070"/>
                  </a:lnTo>
                  <a:close/>
                </a:path>
              </a:pathLst>
            </a:custGeom>
            <a:blipFill>
              <a:blip r:embed="rId3"/>
              <a:stretch>
                <a:fillRect t="-571" b="-57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Freeform 5"/>
          <p:cNvSpPr/>
          <p:nvPr/>
        </p:nvSpPr>
        <p:spPr>
          <a:xfrm>
            <a:off x="14987873" y="520676"/>
            <a:ext cx="2726696" cy="670313"/>
          </a:xfrm>
          <a:custGeom>
            <a:avLst/>
            <a:gdLst/>
            <a:ahLst/>
            <a:cxnLst/>
            <a:rect l="l" t="t" r="r" b="b"/>
            <a:pathLst>
              <a:path w="2726696" h="670313">
                <a:moveTo>
                  <a:pt x="0" y="0"/>
                </a:moveTo>
                <a:lnTo>
                  <a:pt x="2726696" y="0"/>
                </a:lnTo>
                <a:lnTo>
                  <a:pt x="2726696" y="670313"/>
                </a:lnTo>
                <a:lnTo>
                  <a:pt x="0" y="670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1192308" y="138706"/>
            <a:ext cx="2460927" cy="2313271"/>
          </a:xfrm>
          <a:custGeom>
            <a:avLst/>
            <a:gdLst/>
            <a:ahLst/>
            <a:cxnLst/>
            <a:rect l="l" t="t" r="r" b="b"/>
            <a:pathLst>
              <a:path w="2460927" h="2313271">
                <a:moveTo>
                  <a:pt x="0" y="0"/>
                </a:moveTo>
                <a:lnTo>
                  <a:pt x="2460926" y="0"/>
                </a:lnTo>
                <a:lnTo>
                  <a:pt x="2460926" y="2313271"/>
                </a:lnTo>
                <a:lnTo>
                  <a:pt x="0" y="23132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3961223" y="6858635"/>
            <a:ext cx="5142713" cy="3728467"/>
          </a:xfrm>
          <a:custGeom>
            <a:avLst/>
            <a:gdLst/>
            <a:ahLst/>
            <a:cxnLst/>
            <a:rect l="l" t="t" r="r" b="b"/>
            <a:pathLst>
              <a:path w="5142713" h="3728467">
                <a:moveTo>
                  <a:pt x="0" y="0"/>
                </a:moveTo>
                <a:lnTo>
                  <a:pt x="5142713" y="0"/>
                </a:lnTo>
                <a:lnTo>
                  <a:pt x="5142713" y="3728467"/>
                </a:lnTo>
                <a:lnTo>
                  <a:pt x="0" y="37284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8056715" y="2881634"/>
            <a:ext cx="9657854" cy="9004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382"/>
              </a:lnSpc>
              <a:spcBef>
                <a:spcPct val="0"/>
              </a:spcBef>
            </a:pPr>
            <a:r>
              <a:rPr lang="en-US" sz="6151" b="1" dirty="0" err="1">
                <a:solidFill>
                  <a:srgbClr val="2A3DC7"/>
                </a:solidFill>
                <a:latin typeface="Raleway Bold"/>
                <a:ea typeface="Raleway Bold"/>
                <a:cs typeface="Raleway Bold"/>
                <a:sym typeface="Raleway Bold"/>
              </a:rPr>
              <a:t>Definición</a:t>
            </a:r>
            <a:r>
              <a:rPr lang="en-US" sz="6151" b="1" dirty="0">
                <a:solidFill>
                  <a:srgbClr val="2A3DC7"/>
                </a:solidFill>
                <a:latin typeface="Raleway Bold"/>
                <a:ea typeface="Raleway Bold"/>
                <a:cs typeface="Raleway Bold"/>
                <a:sym typeface="Raleway Bold"/>
              </a:rPr>
              <a:t> del Proyecto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04861" y="4080066"/>
            <a:ext cx="9254439" cy="174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</a:pPr>
            <a:r>
              <a:rPr lang="en-US" sz="1899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HomeCount Simulator es una plataforma web accesible e intuitiva diseñada para familias que emprenden proyectos de autoconstrucción. Su función principal es la simulación de proyectos habitacionales ajustados al presupuesto disponible, permitiendo a los usuarios planificar, cotizar y gestionar materiales de construcción de manera eficiente y transparente.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56715" y="6240279"/>
            <a:ext cx="5596520" cy="3509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</a:pPr>
            <a:r>
              <a:rPr lang="en-US" sz="1899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 solución tecnológica contempla una aplicación web responsiva accesible desde cualquier dispositivo, respaldada por bases de datos relacionales para la gestión de catálogos de materiales y precios actualizados. Incorpora algoritmos de simulación en tiempo real que permiten visualizar el avance del proyecto según el presupuesto ingresado, brindando una experiencia clara y práctica para el usuario final.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18630" y="0"/>
            <a:ext cx="7569370" cy="10287000"/>
            <a:chOff x="0" y="0"/>
            <a:chExt cx="1291123" cy="17546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1123" cy="1754675"/>
            </a:xfrm>
            <a:custGeom>
              <a:avLst/>
              <a:gdLst/>
              <a:ahLst/>
              <a:cxnLst/>
              <a:rect l="l" t="t" r="r" b="b"/>
              <a:pathLst>
                <a:path w="1291123" h="1754675">
                  <a:moveTo>
                    <a:pt x="0" y="0"/>
                  </a:moveTo>
                  <a:lnTo>
                    <a:pt x="1291123" y="0"/>
                  </a:lnTo>
                  <a:lnTo>
                    <a:pt x="1291123" y="1754675"/>
                  </a:lnTo>
                  <a:lnTo>
                    <a:pt x="0" y="1754675"/>
                  </a:lnTo>
                  <a:close/>
                </a:path>
              </a:pathLst>
            </a:custGeom>
            <a:blipFill>
              <a:blip r:embed="rId2"/>
              <a:stretch>
                <a:fillRect t="-226" b="-22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 flipH="1">
            <a:off x="8463092" y="-684759"/>
            <a:ext cx="3245157" cy="2571787"/>
          </a:xfrm>
          <a:custGeom>
            <a:avLst/>
            <a:gdLst/>
            <a:ahLst/>
            <a:cxnLst/>
            <a:rect l="l" t="t" r="r" b="b"/>
            <a:pathLst>
              <a:path w="3245157" h="2571787">
                <a:moveTo>
                  <a:pt x="3245157" y="0"/>
                </a:moveTo>
                <a:lnTo>
                  <a:pt x="0" y="0"/>
                </a:lnTo>
                <a:lnTo>
                  <a:pt x="0" y="2571787"/>
                </a:lnTo>
                <a:lnTo>
                  <a:pt x="3245157" y="2571787"/>
                </a:lnTo>
                <a:lnTo>
                  <a:pt x="324515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flipH="1">
            <a:off x="-4396346" y="9280608"/>
            <a:ext cx="6150882" cy="6596120"/>
          </a:xfrm>
          <a:custGeom>
            <a:avLst/>
            <a:gdLst/>
            <a:ahLst/>
            <a:cxnLst/>
            <a:rect l="l" t="t" r="r" b="b"/>
            <a:pathLst>
              <a:path w="6150882" h="6596120">
                <a:moveTo>
                  <a:pt x="6150881" y="0"/>
                </a:moveTo>
                <a:lnTo>
                  <a:pt x="0" y="0"/>
                </a:lnTo>
                <a:lnTo>
                  <a:pt x="0" y="6596119"/>
                </a:lnTo>
                <a:lnTo>
                  <a:pt x="6150881" y="6596119"/>
                </a:lnTo>
                <a:lnTo>
                  <a:pt x="61508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4987873" y="520676"/>
            <a:ext cx="2726696" cy="670313"/>
          </a:xfrm>
          <a:custGeom>
            <a:avLst/>
            <a:gdLst/>
            <a:ahLst/>
            <a:cxnLst/>
            <a:rect l="l" t="t" r="r" b="b"/>
            <a:pathLst>
              <a:path w="2726696" h="670313">
                <a:moveTo>
                  <a:pt x="0" y="0"/>
                </a:moveTo>
                <a:lnTo>
                  <a:pt x="2726696" y="0"/>
                </a:lnTo>
                <a:lnTo>
                  <a:pt x="2726696" y="670313"/>
                </a:lnTo>
                <a:lnTo>
                  <a:pt x="0" y="6703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7775609" y="1216942"/>
            <a:ext cx="1755877" cy="2065737"/>
          </a:xfrm>
          <a:custGeom>
            <a:avLst/>
            <a:gdLst/>
            <a:ahLst/>
            <a:cxnLst/>
            <a:rect l="l" t="t" r="r" b="b"/>
            <a:pathLst>
              <a:path w="1755877" h="2065737">
                <a:moveTo>
                  <a:pt x="0" y="0"/>
                </a:moveTo>
                <a:lnTo>
                  <a:pt x="1755877" y="0"/>
                </a:lnTo>
                <a:lnTo>
                  <a:pt x="1755877" y="2065737"/>
                </a:lnTo>
                <a:lnTo>
                  <a:pt x="0" y="2065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8244017" y="3758993"/>
            <a:ext cx="2026197" cy="1539910"/>
          </a:xfrm>
          <a:custGeom>
            <a:avLst/>
            <a:gdLst/>
            <a:ahLst/>
            <a:cxnLst/>
            <a:rect l="l" t="t" r="r" b="b"/>
            <a:pathLst>
              <a:path w="2026197" h="1539910">
                <a:moveTo>
                  <a:pt x="0" y="0"/>
                </a:moveTo>
                <a:lnTo>
                  <a:pt x="2026197" y="0"/>
                </a:lnTo>
                <a:lnTo>
                  <a:pt x="2026197" y="1539910"/>
                </a:lnTo>
                <a:lnTo>
                  <a:pt x="0" y="1539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706711" y="6576657"/>
            <a:ext cx="1942057" cy="1991853"/>
          </a:xfrm>
          <a:custGeom>
            <a:avLst/>
            <a:gdLst/>
            <a:ahLst/>
            <a:cxnLst/>
            <a:rect l="l" t="t" r="r" b="b"/>
            <a:pathLst>
              <a:path w="1942057" h="1991853">
                <a:moveTo>
                  <a:pt x="0" y="0"/>
                </a:moveTo>
                <a:lnTo>
                  <a:pt x="1942057" y="0"/>
                </a:lnTo>
                <a:lnTo>
                  <a:pt x="1942057" y="1991853"/>
                </a:lnTo>
                <a:lnTo>
                  <a:pt x="0" y="19918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0" name="Group 10"/>
          <p:cNvGrpSpPr/>
          <p:nvPr/>
        </p:nvGrpSpPr>
        <p:grpSpPr>
          <a:xfrm>
            <a:off x="2403293" y="8867210"/>
            <a:ext cx="7592223" cy="1419790"/>
            <a:chOff x="0" y="-57150"/>
            <a:chExt cx="1999598" cy="3739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99598" cy="254653"/>
            </a:xfrm>
            <a:custGeom>
              <a:avLst/>
              <a:gdLst/>
              <a:ahLst/>
              <a:cxnLst/>
              <a:rect l="l" t="t" r="r" b="b"/>
              <a:pathLst>
                <a:path w="1999598" h="254653">
                  <a:moveTo>
                    <a:pt x="28552" y="0"/>
                  </a:moveTo>
                  <a:lnTo>
                    <a:pt x="1971046" y="0"/>
                  </a:lnTo>
                  <a:cubicBezTo>
                    <a:pt x="1986815" y="0"/>
                    <a:pt x="1999598" y="12783"/>
                    <a:pt x="1999598" y="28552"/>
                  </a:cubicBezTo>
                  <a:lnTo>
                    <a:pt x="1999598" y="226100"/>
                  </a:lnTo>
                  <a:cubicBezTo>
                    <a:pt x="1999598" y="241869"/>
                    <a:pt x="1986815" y="254653"/>
                    <a:pt x="1971046" y="254653"/>
                  </a:cubicBezTo>
                  <a:lnTo>
                    <a:pt x="28552" y="254653"/>
                  </a:lnTo>
                  <a:cubicBezTo>
                    <a:pt x="12783" y="254653"/>
                    <a:pt x="0" y="241869"/>
                    <a:pt x="0" y="226100"/>
                  </a:cubicBezTo>
                  <a:lnTo>
                    <a:pt x="0" y="28552"/>
                  </a:lnTo>
                  <a:cubicBezTo>
                    <a:pt x="0" y="12783"/>
                    <a:pt x="12783" y="0"/>
                    <a:pt x="2855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999598" cy="3739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 dirty="0" err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Actualmente</a:t>
              </a:r>
              <a:r>
                <a:rPr lang="en-US" sz="2000" b="1" dirty="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</a:t>
              </a:r>
              <a:r>
                <a:rPr lang="en-US" sz="2000" b="1" dirty="0" err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en</a:t>
              </a:r>
              <a:r>
                <a:rPr lang="en-US" sz="2000" b="1" dirty="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Chile </a:t>
              </a:r>
              <a:r>
                <a:rPr lang="es-CL" sz="2000" b="1" noProof="0" dirty="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existe</a:t>
              </a:r>
              <a:r>
                <a:rPr lang="en-US" sz="2000" b="1" dirty="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un </a:t>
              </a:r>
              <a:r>
                <a:rPr lang="en-US" sz="2000" b="1" dirty="0" err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aprox</a:t>
              </a:r>
              <a:r>
                <a:rPr lang="en-US" sz="2000" b="1" dirty="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de </a:t>
              </a:r>
              <a:r>
                <a:rPr lang="en-US" sz="2000" b="1" dirty="0">
                  <a:solidFill>
                    <a:srgbClr val="FF3131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38,9%</a:t>
              </a:r>
              <a:r>
                <a:rPr lang="en-US" sz="2000" b="1" dirty="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de la </a:t>
              </a:r>
              <a:r>
                <a:rPr lang="en-US" sz="2000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población sigue</a:t>
              </a:r>
              <a:r>
                <a:rPr lang="en-US" sz="2000" b="1" dirty="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</a:t>
              </a:r>
              <a:r>
                <a:rPr lang="en-US" sz="2000" b="1" dirty="0" err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soñando</a:t>
              </a:r>
              <a:r>
                <a:rPr lang="en-US" sz="2000" b="1" dirty="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con </a:t>
              </a:r>
              <a:r>
                <a:rPr lang="en-US" sz="2000" b="1" dirty="0" err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tener</a:t>
              </a:r>
              <a:r>
                <a:rPr lang="en-US" sz="2000" b="1" dirty="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</a:t>
              </a:r>
              <a:r>
                <a:rPr lang="en-US" sz="2000" b="1" dirty="0" err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su</a:t>
              </a:r>
              <a:r>
                <a:rPr lang="en-US" sz="2000" b="1" dirty="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casa </a:t>
              </a:r>
              <a:r>
                <a:rPr lang="en-US" sz="2000" b="1" dirty="0" err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propia</a:t>
              </a:r>
              <a:r>
                <a:rPr lang="en-US" sz="2000" b="1" dirty="0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1257664"/>
            <a:ext cx="7090364" cy="202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7200" b="1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Problemática a Resolver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4154" y="3512630"/>
            <a:ext cx="8115300" cy="2451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</a:pPr>
            <a:r>
              <a:rPr lang="en-US" sz="1899" b="1">
                <a:solidFill>
                  <a:srgbClr val="C2D9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</a:t>
            </a:r>
            <a:r>
              <a:rPr lang="en-US" sz="1899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sinformación financiera y técnica en autoconstrucción</a:t>
            </a:r>
          </a:p>
          <a:p>
            <a:pPr marL="0" lvl="0" indent="0" algn="l">
              <a:lnSpc>
                <a:spcPts val="2849"/>
              </a:lnSpc>
            </a:pPr>
            <a:r>
              <a:rPr lang="en-US" sz="1899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Muchas familias en Chile emprenden proyectos de autoconstrucción sin acceso a herramientas que les permitan planificar adecuadamente sus recursos. La falta de orientación técnica y financiera genera decisiones de compra ineficientes, sobrecostos y, en casos críticos, el abandono de obras por agotamiento del presupuesto disponible.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99037" y="6269841"/>
            <a:ext cx="7434392" cy="2451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</a:pPr>
            <a:r>
              <a:rPr lang="en-US" sz="18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Zonas vulnerables con alta demanda habitacional</a:t>
            </a:r>
          </a:p>
          <a:p>
            <a:pPr marL="0" lvl="0" indent="0" algn="l">
              <a:lnSpc>
                <a:spcPts val="2849"/>
              </a:lnSpc>
            </a:pPr>
            <a:r>
              <a:rPr lang="en-US" sz="1899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 problema se concentra especialmente en las periferias de Santiago, San Antonio y Melipilla, donde la demanda habitacional es elevada y los recursos son limitados. Las familias afectadas enfrentan riesgos concretos: compras ineficientes de materiales, proyectos inconclusos y el riesgo real de quedarse sin fondos antes de terminar sus viviendas.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1618" y="1466486"/>
            <a:ext cx="10552979" cy="945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80"/>
              </a:lnSpc>
            </a:pPr>
            <a:r>
              <a:rPr lang="en-US" sz="8000" b="1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Objetivos a Cumplir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8104471" y="-236305"/>
            <a:ext cx="10183529" cy="10920675"/>
          </a:xfrm>
          <a:custGeom>
            <a:avLst/>
            <a:gdLst/>
            <a:ahLst/>
            <a:cxnLst/>
            <a:rect l="l" t="t" r="r" b="b"/>
            <a:pathLst>
              <a:path w="10183529" h="10920675">
                <a:moveTo>
                  <a:pt x="10183529" y="0"/>
                </a:moveTo>
                <a:lnTo>
                  <a:pt x="0" y="0"/>
                </a:lnTo>
                <a:lnTo>
                  <a:pt x="0" y="10920674"/>
                </a:lnTo>
                <a:lnTo>
                  <a:pt x="10183529" y="10920674"/>
                </a:lnTo>
                <a:lnTo>
                  <a:pt x="1018352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10465594" y="3554099"/>
            <a:ext cx="829003" cy="855981"/>
            <a:chOff x="0" y="0"/>
            <a:chExt cx="1105337" cy="1141308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105337" cy="1141308"/>
              <a:chOff x="0" y="0"/>
              <a:chExt cx="8925826" cy="92163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925826" cy="9216300"/>
              </a:xfrm>
              <a:custGeom>
                <a:avLst/>
                <a:gdLst/>
                <a:ahLst/>
                <a:cxnLst/>
                <a:rect l="l" t="t" r="r" b="b"/>
                <a:pathLst>
                  <a:path w="8925826" h="9216300">
                    <a:moveTo>
                      <a:pt x="4462913" y="0"/>
                    </a:moveTo>
                    <a:cubicBezTo>
                      <a:pt x="1998114" y="0"/>
                      <a:pt x="0" y="2063139"/>
                      <a:pt x="0" y="4608150"/>
                    </a:cubicBezTo>
                    <a:cubicBezTo>
                      <a:pt x="0" y="7153161"/>
                      <a:pt x="1998114" y="9216300"/>
                      <a:pt x="4462913" y="9216300"/>
                    </a:cubicBezTo>
                    <a:cubicBezTo>
                      <a:pt x="6927712" y="9216300"/>
                      <a:pt x="8925826" y="7153161"/>
                      <a:pt x="8925826" y="4608150"/>
                    </a:cubicBezTo>
                    <a:cubicBezTo>
                      <a:pt x="8925826" y="2063139"/>
                      <a:pt x="6927712" y="0"/>
                      <a:pt x="4462913" y="0"/>
                    </a:cubicBezTo>
                    <a:close/>
                  </a:path>
                </a:pathLst>
              </a:custGeom>
              <a:solidFill>
                <a:srgbClr val="E16B31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62356" y="1203"/>
              <a:ext cx="780625" cy="713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10"/>
                </a:lnSpc>
                <a:spcBef>
                  <a:spcPct val="0"/>
                </a:spcBef>
              </a:pPr>
              <a:r>
                <a:rPr lang="en-US" sz="3000" b="1" u="non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66519" y="5833632"/>
            <a:ext cx="829003" cy="855981"/>
            <a:chOff x="0" y="0"/>
            <a:chExt cx="1105337" cy="1141308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105337" cy="1141308"/>
              <a:chOff x="0" y="0"/>
              <a:chExt cx="8925826" cy="92163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925826" cy="9216300"/>
              </a:xfrm>
              <a:custGeom>
                <a:avLst/>
                <a:gdLst/>
                <a:ahLst/>
                <a:cxnLst/>
                <a:rect l="l" t="t" r="r" b="b"/>
                <a:pathLst>
                  <a:path w="8925826" h="9216300">
                    <a:moveTo>
                      <a:pt x="4462913" y="0"/>
                    </a:moveTo>
                    <a:cubicBezTo>
                      <a:pt x="1998114" y="0"/>
                      <a:pt x="0" y="2063139"/>
                      <a:pt x="0" y="4608150"/>
                    </a:cubicBezTo>
                    <a:cubicBezTo>
                      <a:pt x="0" y="7153161"/>
                      <a:pt x="1998114" y="9216300"/>
                      <a:pt x="4462913" y="9216300"/>
                    </a:cubicBezTo>
                    <a:cubicBezTo>
                      <a:pt x="6927712" y="9216300"/>
                      <a:pt x="8925826" y="7153161"/>
                      <a:pt x="8925826" y="4608150"/>
                    </a:cubicBezTo>
                    <a:cubicBezTo>
                      <a:pt x="8925826" y="2063139"/>
                      <a:pt x="6927712" y="0"/>
                      <a:pt x="4462913" y="0"/>
                    </a:cubicBezTo>
                    <a:close/>
                  </a:path>
                </a:pathLst>
              </a:custGeom>
              <a:solidFill>
                <a:srgbClr val="E16B31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62356" y="1203"/>
              <a:ext cx="780625" cy="713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10"/>
                </a:lnSpc>
                <a:spcBef>
                  <a:spcPct val="0"/>
                </a:spcBef>
              </a:pPr>
              <a:r>
                <a:rPr lang="en-US" sz="3000" b="1" u="non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4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607649" y="5652022"/>
            <a:ext cx="876850" cy="855981"/>
            <a:chOff x="0" y="0"/>
            <a:chExt cx="1169133" cy="114130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169133" cy="1141308"/>
              <a:chOff x="0" y="0"/>
              <a:chExt cx="9440992" cy="92163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440992" cy="9216300"/>
              </a:xfrm>
              <a:custGeom>
                <a:avLst/>
                <a:gdLst/>
                <a:ahLst/>
                <a:cxnLst/>
                <a:rect l="l" t="t" r="r" b="b"/>
                <a:pathLst>
                  <a:path w="9440992" h="9216300">
                    <a:moveTo>
                      <a:pt x="4720496" y="0"/>
                    </a:moveTo>
                    <a:cubicBezTo>
                      <a:pt x="2113438" y="0"/>
                      <a:pt x="0" y="2063139"/>
                      <a:pt x="0" y="4608150"/>
                    </a:cubicBezTo>
                    <a:cubicBezTo>
                      <a:pt x="0" y="7153161"/>
                      <a:pt x="2113438" y="9216300"/>
                      <a:pt x="4720496" y="9216300"/>
                    </a:cubicBezTo>
                    <a:cubicBezTo>
                      <a:pt x="7327554" y="9216300"/>
                      <a:pt x="9440992" y="7153161"/>
                      <a:pt x="9440992" y="4608150"/>
                    </a:cubicBezTo>
                    <a:cubicBezTo>
                      <a:pt x="9440992" y="2063139"/>
                      <a:pt x="7327554" y="0"/>
                      <a:pt x="4720496" y="0"/>
                    </a:cubicBezTo>
                    <a:close/>
                  </a:path>
                </a:pathLst>
              </a:custGeom>
              <a:solidFill>
                <a:srgbClr val="E16B31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71726" y="1203"/>
              <a:ext cx="825680" cy="713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10"/>
                </a:lnSpc>
                <a:spcBef>
                  <a:spcPct val="0"/>
                </a:spcBef>
              </a:pPr>
              <a:r>
                <a:rPr lang="en-US" sz="3000" b="1" u="non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579683" y="8220709"/>
            <a:ext cx="876850" cy="855981"/>
            <a:chOff x="0" y="0"/>
            <a:chExt cx="1169133" cy="1141308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169133" cy="1141308"/>
              <a:chOff x="0" y="0"/>
              <a:chExt cx="9440992" cy="92163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9440992" cy="9216300"/>
              </a:xfrm>
              <a:custGeom>
                <a:avLst/>
                <a:gdLst/>
                <a:ahLst/>
                <a:cxnLst/>
                <a:rect l="l" t="t" r="r" b="b"/>
                <a:pathLst>
                  <a:path w="9440992" h="9216300">
                    <a:moveTo>
                      <a:pt x="4720496" y="0"/>
                    </a:moveTo>
                    <a:cubicBezTo>
                      <a:pt x="2113438" y="0"/>
                      <a:pt x="0" y="2063139"/>
                      <a:pt x="0" y="4608150"/>
                    </a:cubicBezTo>
                    <a:cubicBezTo>
                      <a:pt x="0" y="7153161"/>
                      <a:pt x="2113438" y="9216300"/>
                      <a:pt x="4720496" y="9216300"/>
                    </a:cubicBezTo>
                    <a:cubicBezTo>
                      <a:pt x="7327554" y="9216300"/>
                      <a:pt x="9440992" y="7153161"/>
                      <a:pt x="9440992" y="4608150"/>
                    </a:cubicBezTo>
                    <a:cubicBezTo>
                      <a:pt x="9440992" y="2063139"/>
                      <a:pt x="7327554" y="0"/>
                      <a:pt x="4720496" y="0"/>
                    </a:cubicBezTo>
                    <a:close/>
                  </a:path>
                </a:pathLst>
              </a:custGeom>
              <a:solidFill>
                <a:srgbClr val="E16B31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71726" y="1203"/>
              <a:ext cx="825680" cy="713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10"/>
                </a:lnSpc>
                <a:spcBef>
                  <a:spcPct val="0"/>
                </a:spcBef>
              </a:pPr>
              <a:r>
                <a:rPr lang="en-US" sz="3000" b="1" u="none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5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14987873" y="520676"/>
            <a:ext cx="2726696" cy="670313"/>
          </a:xfrm>
          <a:custGeom>
            <a:avLst/>
            <a:gdLst/>
            <a:ahLst/>
            <a:cxnLst/>
            <a:rect l="l" t="t" r="r" b="b"/>
            <a:pathLst>
              <a:path w="2726696" h="670313">
                <a:moveTo>
                  <a:pt x="0" y="0"/>
                </a:moveTo>
                <a:lnTo>
                  <a:pt x="2726696" y="0"/>
                </a:lnTo>
                <a:lnTo>
                  <a:pt x="2726696" y="670313"/>
                </a:lnTo>
                <a:lnTo>
                  <a:pt x="0" y="670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1" name="Group 21"/>
          <p:cNvGrpSpPr/>
          <p:nvPr/>
        </p:nvGrpSpPr>
        <p:grpSpPr>
          <a:xfrm>
            <a:off x="741618" y="3384186"/>
            <a:ext cx="876850" cy="855981"/>
            <a:chOff x="0" y="0"/>
            <a:chExt cx="1169133" cy="1141308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169133" cy="1141308"/>
              <a:chOff x="0" y="0"/>
              <a:chExt cx="9440992" cy="92163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9440992" cy="9216300"/>
              </a:xfrm>
              <a:custGeom>
                <a:avLst/>
                <a:gdLst/>
                <a:ahLst/>
                <a:cxnLst/>
                <a:rect l="l" t="t" r="r" b="b"/>
                <a:pathLst>
                  <a:path w="9440992" h="9216300">
                    <a:moveTo>
                      <a:pt x="4720496" y="0"/>
                    </a:moveTo>
                    <a:cubicBezTo>
                      <a:pt x="2113438" y="0"/>
                      <a:pt x="0" y="2063139"/>
                      <a:pt x="0" y="4608150"/>
                    </a:cubicBezTo>
                    <a:cubicBezTo>
                      <a:pt x="0" y="7153161"/>
                      <a:pt x="2113438" y="9216300"/>
                      <a:pt x="4720496" y="9216300"/>
                    </a:cubicBezTo>
                    <a:cubicBezTo>
                      <a:pt x="7327554" y="9216300"/>
                      <a:pt x="9440992" y="7153161"/>
                      <a:pt x="9440992" y="4608150"/>
                    </a:cubicBezTo>
                    <a:cubicBezTo>
                      <a:pt x="9440992" y="2063139"/>
                      <a:pt x="7327554" y="0"/>
                      <a:pt x="4720496" y="0"/>
                    </a:cubicBezTo>
                    <a:close/>
                  </a:path>
                </a:pathLst>
              </a:custGeom>
              <a:solidFill>
                <a:srgbClr val="E16B31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71726" y="1203"/>
              <a:ext cx="825680" cy="713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1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1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1294597" y="855833"/>
            <a:ext cx="2055789" cy="1891325"/>
          </a:xfrm>
          <a:custGeom>
            <a:avLst/>
            <a:gdLst/>
            <a:ahLst/>
            <a:cxnLst/>
            <a:rect l="l" t="t" r="r" b="b"/>
            <a:pathLst>
              <a:path w="2055789" h="1891325">
                <a:moveTo>
                  <a:pt x="0" y="0"/>
                </a:moveTo>
                <a:lnTo>
                  <a:pt x="2055789" y="0"/>
                </a:lnTo>
                <a:lnTo>
                  <a:pt x="2055789" y="1891325"/>
                </a:lnTo>
                <a:lnTo>
                  <a:pt x="0" y="1891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6" name="Freeform 26"/>
          <p:cNvSpPr/>
          <p:nvPr/>
        </p:nvSpPr>
        <p:spPr>
          <a:xfrm>
            <a:off x="508953" y="6925315"/>
            <a:ext cx="3417513" cy="3178287"/>
          </a:xfrm>
          <a:custGeom>
            <a:avLst/>
            <a:gdLst/>
            <a:ahLst/>
            <a:cxnLst/>
            <a:rect l="l" t="t" r="r" b="b"/>
            <a:pathLst>
              <a:path w="3417513" h="3178287">
                <a:moveTo>
                  <a:pt x="0" y="0"/>
                </a:moveTo>
                <a:lnTo>
                  <a:pt x="3417512" y="0"/>
                </a:lnTo>
                <a:lnTo>
                  <a:pt x="3417512" y="3178287"/>
                </a:lnTo>
                <a:lnTo>
                  <a:pt x="0" y="31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7" name="TextBox 27"/>
          <p:cNvSpPr txBox="1"/>
          <p:nvPr/>
        </p:nvSpPr>
        <p:spPr>
          <a:xfrm>
            <a:off x="1986488" y="3189101"/>
            <a:ext cx="6337252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</a:pPr>
            <a:r>
              <a:rPr lang="en-US" sz="30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Desarrollar aplicación web para planificar y cotizar materiales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65090" y="3143890"/>
            <a:ext cx="559421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Levantar requerimientos y catálogo de materiales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072309" y="5241813"/>
            <a:ext cx="559421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Diseñar base de datos relacional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57011" y="5477515"/>
            <a:ext cx="559421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Desarrollar interfaz con barra dinámica de presupuesto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98979" y="7810500"/>
            <a:ext cx="559421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Ejecutar pruebas QA para garantizar precisión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637826" y="-442204"/>
            <a:ext cx="14096415" cy="11171409"/>
          </a:xfrm>
          <a:custGeom>
            <a:avLst/>
            <a:gdLst/>
            <a:ahLst/>
            <a:cxnLst/>
            <a:rect l="l" t="t" r="r" b="b"/>
            <a:pathLst>
              <a:path w="14096415" h="11171409">
                <a:moveTo>
                  <a:pt x="0" y="11171408"/>
                </a:moveTo>
                <a:lnTo>
                  <a:pt x="14096415" y="11171408"/>
                </a:lnTo>
                <a:lnTo>
                  <a:pt x="14096415" y="0"/>
                </a:lnTo>
                <a:lnTo>
                  <a:pt x="0" y="0"/>
                </a:lnTo>
                <a:lnTo>
                  <a:pt x="0" y="1117140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879943" y="1005798"/>
            <a:ext cx="5018552" cy="8252502"/>
            <a:chOff x="0" y="0"/>
            <a:chExt cx="777505" cy="12785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7505" cy="1278529"/>
            </a:xfrm>
            <a:custGeom>
              <a:avLst/>
              <a:gdLst/>
              <a:ahLst/>
              <a:cxnLst/>
              <a:rect l="l" t="t" r="r" b="b"/>
              <a:pathLst>
                <a:path w="777505" h="1278529">
                  <a:moveTo>
                    <a:pt x="259308" y="19070"/>
                  </a:moveTo>
                  <a:cubicBezTo>
                    <a:pt x="299040" y="7556"/>
                    <a:pt x="344486" y="0"/>
                    <a:pt x="388962" y="0"/>
                  </a:cubicBezTo>
                  <a:cubicBezTo>
                    <a:pt x="433440" y="0"/>
                    <a:pt x="476238" y="6476"/>
                    <a:pt x="515679" y="17990"/>
                  </a:cubicBezTo>
                  <a:cubicBezTo>
                    <a:pt x="516519" y="18350"/>
                    <a:pt x="517358" y="18350"/>
                    <a:pt x="518197" y="18710"/>
                  </a:cubicBezTo>
                  <a:cubicBezTo>
                    <a:pt x="666313" y="64765"/>
                    <a:pt x="775407" y="186379"/>
                    <a:pt x="777505" y="338847"/>
                  </a:cubicBezTo>
                  <a:lnTo>
                    <a:pt x="777505" y="1178256"/>
                  </a:lnTo>
                  <a:cubicBezTo>
                    <a:pt x="777505" y="1204850"/>
                    <a:pt x="766941" y="1230354"/>
                    <a:pt x="748136" y="1249159"/>
                  </a:cubicBezTo>
                  <a:cubicBezTo>
                    <a:pt x="729331" y="1267964"/>
                    <a:pt x="703826" y="1278529"/>
                    <a:pt x="677232" y="1278529"/>
                  </a:cubicBezTo>
                  <a:lnTo>
                    <a:pt x="100273" y="1278529"/>
                  </a:lnTo>
                  <a:cubicBezTo>
                    <a:pt x="73679" y="1278529"/>
                    <a:pt x="48174" y="1267964"/>
                    <a:pt x="29369" y="1249159"/>
                  </a:cubicBezTo>
                  <a:cubicBezTo>
                    <a:pt x="10564" y="1230354"/>
                    <a:pt x="0" y="1204850"/>
                    <a:pt x="0" y="1178256"/>
                  </a:cubicBezTo>
                  <a:lnTo>
                    <a:pt x="0" y="339545"/>
                  </a:lnTo>
                  <a:cubicBezTo>
                    <a:pt x="2098" y="185660"/>
                    <a:pt x="109514" y="64045"/>
                    <a:pt x="259308" y="19070"/>
                  </a:cubicBezTo>
                  <a:lnTo>
                    <a:pt x="259308" y="19070"/>
                  </a:lnTo>
                  <a:close/>
                </a:path>
              </a:pathLst>
            </a:custGeom>
            <a:blipFill>
              <a:blip r:embed="rId3"/>
              <a:stretch>
                <a:fillRect t="-571" b="-57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244819" y="1846558"/>
            <a:ext cx="8732113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24"/>
              </a:lnSpc>
              <a:spcBef>
                <a:spcPct val="0"/>
              </a:spcBef>
            </a:pPr>
            <a:r>
              <a:rPr lang="en-US" sz="4853" b="1">
                <a:solidFill>
                  <a:srgbClr val="2A3DC7"/>
                </a:solidFill>
                <a:latin typeface="Raleway Bold"/>
                <a:ea typeface="Raleway Bold"/>
                <a:cs typeface="Raleway Bold"/>
                <a:sym typeface="Raleway Bold"/>
              </a:rPr>
              <a:t>Alcances y Viabilidad Técnica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57675" y="3187927"/>
            <a:ext cx="8106402" cy="3408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</a:pPr>
            <a:r>
              <a:rPr lang="en-US" sz="2299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proyecto cuenta con un cronograma estructurado de 18 semanas, utilizando recursos comunes y software libre para garantizar su viabilidad. El alcance está acotado a materiales de obra gruesa, permitiendo un desarrollo enfocado y manejable. Se implementan estrategias de mitigación de riesgos para asegurar la precisión y confiabilidad de la plataforma al momento de ser distribuido hacia la población.</a:t>
            </a:r>
          </a:p>
        </p:txBody>
      </p:sp>
      <p:sp>
        <p:nvSpPr>
          <p:cNvPr id="7" name="Freeform 7"/>
          <p:cNvSpPr/>
          <p:nvPr/>
        </p:nvSpPr>
        <p:spPr>
          <a:xfrm flipH="1" flipV="1">
            <a:off x="15711991" y="0"/>
            <a:ext cx="5005096" cy="5367395"/>
          </a:xfrm>
          <a:custGeom>
            <a:avLst/>
            <a:gdLst/>
            <a:ahLst/>
            <a:cxnLst/>
            <a:rect l="l" t="t" r="r" b="b"/>
            <a:pathLst>
              <a:path w="5005096" h="5367395">
                <a:moveTo>
                  <a:pt x="5005096" y="5367395"/>
                </a:moveTo>
                <a:lnTo>
                  <a:pt x="0" y="5367395"/>
                </a:lnTo>
                <a:lnTo>
                  <a:pt x="0" y="0"/>
                </a:lnTo>
                <a:lnTo>
                  <a:pt x="5005096" y="0"/>
                </a:lnTo>
                <a:lnTo>
                  <a:pt x="5005096" y="53673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4987873" y="520676"/>
            <a:ext cx="2726696" cy="670313"/>
          </a:xfrm>
          <a:custGeom>
            <a:avLst/>
            <a:gdLst/>
            <a:ahLst/>
            <a:cxnLst/>
            <a:rect l="l" t="t" r="r" b="b"/>
            <a:pathLst>
              <a:path w="2726696" h="670313">
                <a:moveTo>
                  <a:pt x="0" y="0"/>
                </a:moveTo>
                <a:lnTo>
                  <a:pt x="2726696" y="0"/>
                </a:lnTo>
                <a:lnTo>
                  <a:pt x="2726696" y="670313"/>
                </a:lnTo>
                <a:lnTo>
                  <a:pt x="0" y="6703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8557675" y="6972558"/>
            <a:ext cx="2407997" cy="2883828"/>
          </a:xfrm>
          <a:custGeom>
            <a:avLst/>
            <a:gdLst/>
            <a:ahLst/>
            <a:cxnLst/>
            <a:rect l="l" t="t" r="r" b="b"/>
            <a:pathLst>
              <a:path w="2407997" h="2883828">
                <a:moveTo>
                  <a:pt x="0" y="0"/>
                </a:moveTo>
                <a:lnTo>
                  <a:pt x="2407997" y="0"/>
                </a:lnTo>
                <a:lnTo>
                  <a:pt x="2407997" y="2883829"/>
                </a:lnTo>
                <a:lnTo>
                  <a:pt x="0" y="28838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11619621" y="7535540"/>
            <a:ext cx="2529302" cy="1757865"/>
          </a:xfrm>
          <a:custGeom>
            <a:avLst/>
            <a:gdLst/>
            <a:ahLst/>
            <a:cxnLst/>
            <a:rect l="l" t="t" r="r" b="b"/>
            <a:pathLst>
              <a:path w="2529302" h="1757865">
                <a:moveTo>
                  <a:pt x="0" y="0"/>
                </a:moveTo>
                <a:lnTo>
                  <a:pt x="2529302" y="0"/>
                </a:lnTo>
                <a:lnTo>
                  <a:pt x="2529302" y="1757865"/>
                </a:lnTo>
                <a:lnTo>
                  <a:pt x="0" y="17578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Freeform 11"/>
          <p:cNvSpPr/>
          <p:nvPr/>
        </p:nvSpPr>
        <p:spPr>
          <a:xfrm>
            <a:off x="14802871" y="7176997"/>
            <a:ext cx="2456429" cy="2333607"/>
          </a:xfrm>
          <a:custGeom>
            <a:avLst/>
            <a:gdLst/>
            <a:ahLst/>
            <a:cxnLst/>
            <a:rect l="l" t="t" r="r" b="b"/>
            <a:pathLst>
              <a:path w="2456429" h="2333607">
                <a:moveTo>
                  <a:pt x="0" y="0"/>
                </a:moveTo>
                <a:lnTo>
                  <a:pt x="2456429" y="0"/>
                </a:lnTo>
                <a:lnTo>
                  <a:pt x="2456429" y="2333608"/>
                </a:lnTo>
                <a:lnTo>
                  <a:pt x="0" y="2333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B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643189" y="4006962"/>
            <a:ext cx="6150882" cy="6596120"/>
          </a:xfrm>
          <a:custGeom>
            <a:avLst/>
            <a:gdLst/>
            <a:ahLst/>
            <a:cxnLst/>
            <a:rect l="l" t="t" r="r" b="b"/>
            <a:pathLst>
              <a:path w="6150882" h="6596120">
                <a:moveTo>
                  <a:pt x="6150882" y="0"/>
                </a:moveTo>
                <a:lnTo>
                  <a:pt x="0" y="0"/>
                </a:lnTo>
                <a:lnTo>
                  <a:pt x="0" y="6596119"/>
                </a:lnTo>
                <a:lnTo>
                  <a:pt x="6150882" y="6596119"/>
                </a:lnTo>
                <a:lnTo>
                  <a:pt x="61508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812760" y="1607579"/>
            <a:ext cx="8331240" cy="802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578"/>
              </a:lnSpc>
              <a:spcBef>
                <a:spcPct val="0"/>
              </a:spcBef>
            </a:pPr>
            <a:r>
              <a:rPr lang="en-US" sz="5481" b="1" dirty="0" err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Metodología</a:t>
            </a:r>
            <a:r>
              <a:rPr lang="en-US" sz="5481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5481" b="1" dirty="0" err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Ágil</a:t>
            </a:r>
            <a:r>
              <a:rPr lang="en-US" sz="5481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 Scrum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718630" y="0"/>
            <a:ext cx="7569370" cy="10287000"/>
            <a:chOff x="0" y="0"/>
            <a:chExt cx="1291123" cy="17546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1123" cy="1754675"/>
            </a:xfrm>
            <a:custGeom>
              <a:avLst/>
              <a:gdLst/>
              <a:ahLst/>
              <a:cxnLst/>
              <a:rect l="l" t="t" r="r" b="b"/>
              <a:pathLst>
                <a:path w="1291123" h="1754675">
                  <a:moveTo>
                    <a:pt x="0" y="0"/>
                  </a:moveTo>
                  <a:lnTo>
                    <a:pt x="1291123" y="0"/>
                  </a:lnTo>
                  <a:lnTo>
                    <a:pt x="1291123" y="1754675"/>
                  </a:lnTo>
                  <a:lnTo>
                    <a:pt x="0" y="1754675"/>
                  </a:lnTo>
                  <a:close/>
                </a:path>
              </a:pathLst>
            </a:custGeom>
            <a:blipFill>
              <a:blip r:embed="rId3"/>
              <a:stretch>
                <a:fillRect t="-226" b="-22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-2781300" y="-5360550"/>
            <a:ext cx="6150882" cy="6596120"/>
          </a:xfrm>
          <a:custGeom>
            <a:avLst/>
            <a:gdLst/>
            <a:ahLst/>
            <a:cxnLst/>
            <a:rect l="l" t="t" r="r" b="b"/>
            <a:pathLst>
              <a:path w="6150882" h="6596120">
                <a:moveTo>
                  <a:pt x="6150882" y="0"/>
                </a:moveTo>
                <a:lnTo>
                  <a:pt x="0" y="0"/>
                </a:lnTo>
                <a:lnTo>
                  <a:pt x="0" y="6596120"/>
                </a:lnTo>
                <a:lnTo>
                  <a:pt x="6150882" y="6596120"/>
                </a:lnTo>
                <a:lnTo>
                  <a:pt x="61508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9036420" y="-1358171"/>
            <a:ext cx="3731398" cy="3731398"/>
          </a:xfrm>
          <a:custGeom>
            <a:avLst/>
            <a:gdLst/>
            <a:ahLst/>
            <a:cxnLst/>
            <a:rect l="l" t="t" r="r" b="b"/>
            <a:pathLst>
              <a:path w="3731398" h="3731398">
                <a:moveTo>
                  <a:pt x="0" y="0"/>
                </a:moveTo>
                <a:lnTo>
                  <a:pt x="3731398" y="0"/>
                </a:lnTo>
                <a:lnTo>
                  <a:pt x="3731398" y="3731398"/>
                </a:lnTo>
                <a:lnTo>
                  <a:pt x="0" y="37313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4987873" y="520676"/>
            <a:ext cx="2726696" cy="670313"/>
          </a:xfrm>
          <a:custGeom>
            <a:avLst/>
            <a:gdLst/>
            <a:ahLst/>
            <a:cxnLst/>
            <a:rect l="l" t="t" r="r" b="b"/>
            <a:pathLst>
              <a:path w="2726696" h="670313">
                <a:moveTo>
                  <a:pt x="0" y="0"/>
                </a:moveTo>
                <a:lnTo>
                  <a:pt x="2726696" y="0"/>
                </a:lnTo>
                <a:lnTo>
                  <a:pt x="2726696" y="670313"/>
                </a:lnTo>
                <a:lnTo>
                  <a:pt x="0" y="6703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9359940" y="340320"/>
            <a:ext cx="2717379" cy="2554336"/>
          </a:xfrm>
          <a:custGeom>
            <a:avLst/>
            <a:gdLst/>
            <a:ahLst/>
            <a:cxnLst/>
            <a:rect l="l" t="t" r="r" b="b"/>
            <a:pathLst>
              <a:path w="2717379" h="2554336">
                <a:moveTo>
                  <a:pt x="0" y="0"/>
                </a:moveTo>
                <a:lnTo>
                  <a:pt x="2717379" y="0"/>
                </a:lnTo>
                <a:lnTo>
                  <a:pt x="2717379" y="2554336"/>
                </a:lnTo>
                <a:lnTo>
                  <a:pt x="0" y="25543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3369582" y="7305021"/>
            <a:ext cx="5219653" cy="2609826"/>
          </a:xfrm>
          <a:custGeom>
            <a:avLst/>
            <a:gdLst/>
            <a:ahLst/>
            <a:cxnLst/>
            <a:rect l="l" t="t" r="r" b="b"/>
            <a:pathLst>
              <a:path w="5219653" h="2609826">
                <a:moveTo>
                  <a:pt x="0" y="0"/>
                </a:moveTo>
                <a:lnTo>
                  <a:pt x="5219652" y="0"/>
                </a:lnTo>
                <a:lnTo>
                  <a:pt x="5219652" y="2609827"/>
                </a:lnTo>
                <a:lnTo>
                  <a:pt x="0" y="26098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1028700" y="2645098"/>
            <a:ext cx="8007720" cy="2099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7"/>
              </a:lnSpc>
            </a:pPr>
            <a:r>
              <a:rPr lang="en-US" sz="18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Roles definidos para el equipo de desarrollo:</a:t>
            </a:r>
          </a:p>
          <a:p>
            <a:pPr marL="0" lvl="0" indent="0" algn="l">
              <a:lnSpc>
                <a:spcPts val="2847"/>
              </a:lnSpc>
            </a:pPr>
            <a:r>
              <a:rPr lang="en-US" sz="18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• </a:t>
            </a:r>
            <a:r>
              <a:rPr lang="en-US" sz="1898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Product Owner:</a:t>
            </a:r>
            <a:r>
              <a:rPr lang="en-US" sz="18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define y prioriza los requerimientos del producto.</a:t>
            </a:r>
          </a:p>
          <a:p>
            <a:pPr marL="0" lvl="0" indent="0" algn="l">
              <a:lnSpc>
                <a:spcPts val="2847"/>
              </a:lnSpc>
            </a:pPr>
            <a:r>
              <a:rPr lang="en-US" sz="18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•</a:t>
            </a:r>
            <a:r>
              <a:rPr lang="en-US" sz="1898" b="1">
                <a:solidFill>
                  <a:srgbClr val="2A3DC7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</a:t>
            </a:r>
            <a:r>
              <a:rPr lang="en-US" sz="1898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Scrum Master:</a:t>
            </a:r>
            <a:r>
              <a:rPr lang="en-US" sz="189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facilita el proceso y elimina impedimentos.</a:t>
            </a:r>
          </a:p>
          <a:p>
            <a:pPr marL="0" lvl="0" indent="0" algn="l">
              <a:lnSpc>
                <a:spcPts val="2847"/>
              </a:lnSpc>
            </a:pPr>
            <a:r>
              <a:rPr lang="en-US" sz="1898" b="1">
                <a:solidFill>
                  <a:srgbClr val="2A3DC7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• </a:t>
            </a:r>
            <a:r>
              <a:rPr lang="en-US" sz="1898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Developers:</a:t>
            </a:r>
            <a:r>
              <a:rPr lang="en-US" sz="18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diseñan, programan e integran la solución web.</a:t>
            </a:r>
          </a:p>
          <a:p>
            <a:pPr marL="0" lvl="0" indent="0" algn="l">
              <a:lnSpc>
                <a:spcPts val="2847"/>
              </a:lnSpc>
            </a:pPr>
            <a:r>
              <a:rPr lang="en-US" sz="18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•</a:t>
            </a:r>
            <a:r>
              <a:rPr lang="en-US" sz="189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Tester QA:</a:t>
            </a:r>
            <a:r>
              <a:rPr lang="en-US" sz="189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verifica la calidad y precisión del sistema.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198040"/>
            <a:ext cx="8007720" cy="175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1998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ventajas de la metodologia:</a:t>
            </a:r>
          </a:p>
          <a:p>
            <a:pPr marL="0" lvl="0" indent="0" algn="l">
              <a:lnSpc>
                <a:spcPts val="2847"/>
              </a:lnSpc>
            </a:pPr>
            <a:r>
              <a:rPr lang="en-US" sz="18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Transparencia y control de calidad se mantienen durante todo el ciclo de desarrollo, con revisiones periódicas en cada sprint.</a:t>
            </a:r>
          </a:p>
          <a:p>
            <a:pPr marL="0" lvl="0" indent="0" algn="l">
              <a:lnSpc>
                <a:spcPts val="2847"/>
              </a:lnSpc>
            </a:pPr>
            <a:r>
              <a:rPr lang="en-US" sz="18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 metodología se adapta al cronograma académico de 18 semanas establecido.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9296497" y="-884409"/>
            <a:ext cx="14096415" cy="11171409"/>
          </a:xfrm>
          <a:custGeom>
            <a:avLst/>
            <a:gdLst/>
            <a:ahLst/>
            <a:cxnLst/>
            <a:rect l="l" t="t" r="r" b="b"/>
            <a:pathLst>
              <a:path w="14096415" h="11171409">
                <a:moveTo>
                  <a:pt x="0" y="11171409"/>
                </a:moveTo>
                <a:lnTo>
                  <a:pt x="14096415" y="11171409"/>
                </a:lnTo>
                <a:lnTo>
                  <a:pt x="14096415" y="0"/>
                </a:lnTo>
                <a:lnTo>
                  <a:pt x="0" y="0"/>
                </a:lnTo>
                <a:lnTo>
                  <a:pt x="0" y="1117140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flipH="1" flipV="1">
            <a:off x="15711991" y="0"/>
            <a:ext cx="5005096" cy="5367395"/>
          </a:xfrm>
          <a:custGeom>
            <a:avLst/>
            <a:gdLst/>
            <a:ahLst/>
            <a:cxnLst/>
            <a:rect l="l" t="t" r="r" b="b"/>
            <a:pathLst>
              <a:path w="5005096" h="5367395">
                <a:moveTo>
                  <a:pt x="5005096" y="5367395"/>
                </a:moveTo>
                <a:lnTo>
                  <a:pt x="0" y="5367395"/>
                </a:lnTo>
                <a:lnTo>
                  <a:pt x="0" y="0"/>
                </a:lnTo>
                <a:lnTo>
                  <a:pt x="5005096" y="0"/>
                </a:lnTo>
                <a:lnTo>
                  <a:pt x="5005096" y="53673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4987873" y="520676"/>
            <a:ext cx="2726696" cy="670313"/>
          </a:xfrm>
          <a:custGeom>
            <a:avLst/>
            <a:gdLst/>
            <a:ahLst/>
            <a:cxnLst/>
            <a:rect l="l" t="t" r="r" b="b"/>
            <a:pathLst>
              <a:path w="2726696" h="670313">
                <a:moveTo>
                  <a:pt x="0" y="0"/>
                </a:moveTo>
                <a:lnTo>
                  <a:pt x="2726696" y="0"/>
                </a:lnTo>
                <a:lnTo>
                  <a:pt x="2726696" y="670313"/>
                </a:lnTo>
                <a:lnTo>
                  <a:pt x="0" y="670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707334" y="4300120"/>
            <a:ext cx="5468269" cy="1724861"/>
            <a:chOff x="0" y="0"/>
            <a:chExt cx="1440203" cy="4542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40203" cy="454284"/>
            </a:xfrm>
            <a:custGeom>
              <a:avLst/>
              <a:gdLst/>
              <a:ahLst/>
              <a:cxnLst/>
              <a:rect l="l" t="t" r="r" b="b"/>
              <a:pathLst>
                <a:path w="1440203" h="454284">
                  <a:moveTo>
                    <a:pt x="72205" y="0"/>
                  </a:moveTo>
                  <a:lnTo>
                    <a:pt x="1367997" y="0"/>
                  </a:lnTo>
                  <a:cubicBezTo>
                    <a:pt x="1407875" y="0"/>
                    <a:pt x="1440203" y="32327"/>
                    <a:pt x="1440203" y="72205"/>
                  </a:cubicBezTo>
                  <a:lnTo>
                    <a:pt x="1440203" y="382079"/>
                  </a:lnTo>
                  <a:cubicBezTo>
                    <a:pt x="1440203" y="401229"/>
                    <a:pt x="1432595" y="419595"/>
                    <a:pt x="1419054" y="433136"/>
                  </a:cubicBezTo>
                  <a:cubicBezTo>
                    <a:pt x="1405513" y="446677"/>
                    <a:pt x="1387147" y="454284"/>
                    <a:pt x="1367997" y="454284"/>
                  </a:cubicBezTo>
                  <a:lnTo>
                    <a:pt x="72205" y="454284"/>
                  </a:lnTo>
                  <a:cubicBezTo>
                    <a:pt x="53055" y="454284"/>
                    <a:pt x="34690" y="446677"/>
                    <a:pt x="21148" y="433136"/>
                  </a:cubicBezTo>
                  <a:cubicBezTo>
                    <a:pt x="7607" y="419595"/>
                    <a:pt x="0" y="401229"/>
                    <a:pt x="0" y="382079"/>
                  </a:cubicBezTo>
                  <a:lnTo>
                    <a:pt x="0" y="72205"/>
                  </a:lnTo>
                  <a:cubicBezTo>
                    <a:pt x="0" y="53055"/>
                    <a:pt x="7607" y="34690"/>
                    <a:pt x="21148" y="21148"/>
                  </a:cubicBezTo>
                  <a:cubicBezTo>
                    <a:pt x="34690" y="7607"/>
                    <a:pt x="53055" y="0"/>
                    <a:pt x="722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40203" cy="511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12783" y="4300120"/>
            <a:ext cx="5468269" cy="1724861"/>
            <a:chOff x="0" y="0"/>
            <a:chExt cx="1440203" cy="4542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0203" cy="454284"/>
            </a:xfrm>
            <a:custGeom>
              <a:avLst/>
              <a:gdLst/>
              <a:ahLst/>
              <a:cxnLst/>
              <a:rect l="l" t="t" r="r" b="b"/>
              <a:pathLst>
                <a:path w="1440203" h="454284">
                  <a:moveTo>
                    <a:pt x="72205" y="0"/>
                  </a:moveTo>
                  <a:lnTo>
                    <a:pt x="1367997" y="0"/>
                  </a:lnTo>
                  <a:cubicBezTo>
                    <a:pt x="1407875" y="0"/>
                    <a:pt x="1440203" y="32327"/>
                    <a:pt x="1440203" y="72205"/>
                  </a:cubicBezTo>
                  <a:lnTo>
                    <a:pt x="1440203" y="382079"/>
                  </a:lnTo>
                  <a:cubicBezTo>
                    <a:pt x="1440203" y="401229"/>
                    <a:pt x="1432595" y="419595"/>
                    <a:pt x="1419054" y="433136"/>
                  </a:cubicBezTo>
                  <a:cubicBezTo>
                    <a:pt x="1405513" y="446677"/>
                    <a:pt x="1387147" y="454284"/>
                    <a:pt x="1367997" y="454284"/>
                  </a:cubicBezTo>
                  <a:lnTo>
                    <a:pt x="72205" y="454284"/>
                  </a:lnTo>
                  <a:cubicBezTo>
                    <a:pt x="53055" y="454284"/>
                    <a:pt x="34690" y="446677"/>
                    <a:pt x="21148" y="433136"/>
                  </a:cubicBezTo>
                  <a:cubicBezTo>
                    <a:pt x="7607" y="419595"/>
                    <a:pt x="0" y="401229"/>
                    <a:pt x="0" y="382079"/>
                  </a:cubicBezTo>
                  <a:lnTo>
                    <a:pt x="0" y="72205"/>
                  </a:lnTo>
                  <a:cubicBezTo>
                    <a:pt x="0" y="53055"/>
                    <a:pt x="7607" y="34690"/>
                    <a:pt x="21148" y="21148"/>
                  </a:cubicBezTo>
                  <a:cubicBezTo>
                    <a:pt x="34690" y="7607"/>
                    <a:pt x="53055" y="0"/>
                    <a:pt x="722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440203" cy="511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118232" y="4300120"/>
            <a:ext cx="5468269" cy="1724861"/>
            <a:chOff x="0" y="0"/>
            <a:chExt cx="1440203" cy="4542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0203" cy="454284"/>
            </a:xfrm>
            <a:custGeom>
              <a:avLst/>
              <a:gdLst/>
              <a:ahLst/>
              <a:cxnLst/>
              <a:rect l="l" t="t" r="r" b="b"/>
              <a:pathLst>
                <a:path w="1440203" h="454284">
                  <a:moveTo>
                    <a:pt x="72205" y="0"/>
                  </a:moveTo>
                  <a:lnTo>
                    <a:pt x="1367997" y="0"/>
                  </a:lnTo>
                  <a:cubicBezTo>
                    <a:pt x="1407875" y="0"/>
                    <a:pt x="1440203" y="32327"/>
                    <a:pt x="1440203" y="72205"/>
                  </a:cubicBezTo>
                  <a:lnTo>
                    <a:pt x="1440203" y="382079"/>
                  </a:lnTo>
                  <a:cubicBezTo>
                    <a:pt x="1440203" y="401229"/>
                    <a:pt x="1432595" y="419595"/>
                    <a:pt x="1419054" y="433136"/>
                  </a:cubicBezTo>
                  <a:cubicBezTo>
                    <a:pt x="1405513" y="446677"/>
                    <a:pt x="1387147" y="454284"/>
                    <a:pt x="1367997" y="454284"/>
                  </a:cubicBezTo>
                  <a:lnTo>
                    <a:pt x="72205" y="454284"/>
                  </a:lnTo>
                  <a:cubicBezTo>
                    <a:pt x="53055" y="454284"/>
                    <a:pt x="34690" y="446677"/>
                    <a:pt x="21148" y="433136"/>
                  </a:cubicBezTo>
                  <a:cubicBezTo>
                    <a:pt x="7607" y="419595"/>
                    <a:pt x="0" y="401229"/>
                    <a:pt x="0" y="382079"/>
                  </a:cubicBezTo>
                  <a:lnTo>
                    <a:pt x="0" y="72205"/>
                  </a:lnTo>
                  <a:cubicBezTo>
                    <a:pt x="0" y="53055"/>
                    <a:pt x="7607" y="34690"/>
                    <a:pt x="21148" y="21148"/>
                  </a:cubicBezTo>
                  <a:cubicBezTo>
                    <a:pt x="34690" y="7607"/>
                    <a:pt x="53055" y="0"/>
                    <a:pt x="722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440203" cy="5114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1452" y="3232589"/>
            <a:ext cx="4660033" cy="1038413"/>
            <a:chOff x="0" y="0"/>
            <a:chExt cx="1227334" cy="2734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27334" cy="273491"/>
            </a:xfrm>
            <a:custGeom>
              <a:avLst/>
              <a:gdLst/>
              <a:ahLst/>
              <a:cxnLst/>
              <a:rect l="l" t="t" r="r" b="b"/>
              <a:pathLst>
                <a:path w="1227334" h="273491">
                  <a:moveTo>
                    <a:pt x="203200" y="0"/>
                  </a:moveTo>
                  <a:lnTo>
                    <a:pt x="1024134" y="0"/>
                  </a:lnTo>
                  <a:lnTo>
                    <a:pt x="1227334" y="273491"/>
                  </a:lnTo>
                  <a:lnTo>
                    <a:pt x="0" y="2734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2B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7000" y="-57150"/>
              <a:ext cx="973334" cy="330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Semana : 1 a4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[12-08-2026 / 01-09-2026]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70056" y="3232589"/>
            <a:ext cx="4830188" cy="1038413"/>
            <a:chOff x="0" y="0"/>
            <a:chExt cx="1272148" cy="27349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72148" cy="273491"/>
            </a:xfrm>
            <a:custGeom>
              <a:avLst/>
              <a:gdLst/>
              <a:ahLst/>
              <a:cxnLst/>
              <a:rect l="l" t="t" r="r" b="b"/>
              <a:pathLst>
                <a:path w="1272148" h="273491">
                  <a:moveTo>
                    <a:pt x="203200" y="0"/>
                  </a:moveTo>
                  <a:lnTo>
                    <a:pt x="1068948" y="0"/>
                  </a:lnTo>
                  <a:lnTo>
                    <a:pt x="1272148" y="273491"/>
                  </a:lnTo>
                  <a:lnTo>
                    <a:pt x="0" y="2734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575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7000" y="-57150"/>
              <a:ext cx="1018148" cy="330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Semana : 5 a15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[08-09-2026 / 15-12-2026]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492016" y="3232589"/>
            <a:ext cx="4767284" cy="1038413"/>
            <a:chOff x="0" y="0"/>
            <a:chExt cx="1255581" cy="2734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55581" cy="273491"/>
            </a:xfrm>
            <a:custGeom>
              <a:avLst/>
              <a:gdLst/>
              <a:ahLst/>
              <a:cxnLst/>
              <a:rect l="l" t="t" r="r" b="b"/>
              <a:pathLst>
                <a:path w="1255581" h="273491">
                  <a:moveTo>
                    <a:pt x="203200" y="0"/>
                  </a:moveTo>
                  <a:lnTo>
                    <a:pt x="1052381" y="0"/>
                  </a:lnTo>
                  <a:lnTo>
                    <a:pt x="1255581" y="273491"/>
                  </a:lnTo>
                  <a:lnTo>
                    <a:pt x="0" y="27349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CBA2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7000" y="-57150"/>
              <a:ext cx="1001581" cy="330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Semana : 16 a18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[15-012-2026 / 29-12-2026]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07334" y="6260416"/>
            <a:ext cx="5468269" cy="3426410"/>
            <a:chOff x="0" y="0"/>
            <a:chExt cx="1440203" cy="9024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40203" cy="902429"/>
            </a:xfrm>
            <a:custGeom>
              <a:avLst/>
              <a:gdLst/>
              <a:ahLst/>
              <a:cxnLst/>
              <a:rect l="l" t="t" r="r" b="b"/>
              <a:pathLst>
                <a:path w="1440203" h="902429">
                  <a:moveTo>
                    <a:pt x="72205" y="0"/>
                  </a:moveTo>
                  <a:lnTo>
                    <a:pt x="1367997" y="0"/>
                  </a:lnTo>
                  <a:cubicBezTo>
                    <a:pt x="1407875" y="0"/>
                    <a:pt x="1440203" y="32327"/>
                    <a:pt x="1440203" y="72205"/>
                  </a:cubicBezTo>
                  <a:lnTo>
                    <a:pt x="1440203" y="830224"/>
                  </a:lnTo>
                  <a:cubicBezTo>
                    <a:pt x="1440203" y="849374"/>
                    <a:pt x="1432595" y="867739"/>
                    <a:pt x="1419054" y="881281"/>
                  </a:cubicBezTo>
                  <a:cubicBezTo>
                    <a:pt x="1405513" y="894822"/>
                    <a:pt x="1387147" y="902429"/>
                    <a:pt x="1367997" y="902429"/>
                  </a:cubicBezTo>
                  <a:lnTo>
                    <a:pt x="72205" y="902429"/>
                  </a:lnTo>
                  <a:cubicBezTo>
                    <a:pt x="53055" y="902429"/>
                    <a:pt x="34690" y="894822"/>
                    <a:pt x="21148" y="881281"/>
                  </a:cubicBezTo>
                  <a:cubicBezTo>
                    <a:pt x="7607" y="867739"/>
                    <a:pt x="0" y="849374"/>
                    <a:pt x="0" y="830224"/>
                  </a:cubicBezTo>
                  <a:lnTo>
                    <a:pt x="0" y="72205"/>
                  </a:lnTo>
                  <a:cubicBezTo>
                    <a:pt x="0" y="53055"/>
                    <a:pt x="7607" y="34690"/>
                    <a:pt x="21148" y="21148"/>
                  </a:cubicBezTo>
                  <a:cubicBezTo>
                    <a:pt x="34690" y="7607"/>
                    <a:pt x="53055" y="0"/>
                    <a:pt x="722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440203" cy="959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51015" y="6260416"/>
            <a:ext cx="5468269" cy="3426410"/>
            <a:chOff x="0" y="0"/>
            <a:chExt cx="1440203" cy="90242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40203" cy="902429"/>
            </a:xfrm>
            <a:custGeom>
              <a:avLst/>
              <a:gdLst/>
              <a:ahLst/>
              <a:cxnLst/>
              <a:rect l="l" t="t" r="r" b="b"/>
              <a:pathLst>
                <a:path w="1440203" h="902429">
                  <a:moveTo>
                    <a:pt x="72205" y="0"/>
                  </a:moveTo>
                  <a:lnTo>
                    <a:pt x="1367997" y="0"/>
                  </a:lnTo>
                  <a:cubicBezTo>
                    <a:pt x="1407875" y="0"/>
                    <a:pt x="1440203" y="32327"/>
                    <a:pt x="1440203" y="72205"/>
                  </a:cubicBezTo>
                  <a:lnTo>
                    <a:pt x="1440203" y="830224"/>
                  </a:lnTo>
                  <a:cubicBezTo>
                    <a:pt x="1440203" y="849374"/>
                    <a:pt x="1432595" y="867739"/>
                    <a:pt x="1419054" y="881281"/>
                  </a:cubicBezTo>
                  <a:cubicBezTo>
                    <a:pt x="1405513" y="894822"/>
                    <a:pt x="1387147" y="902429"/>
                    <a:pt x="1367997" y="902429"/>
                  </a:cubicBezTo>
                  <a:lnTo>
                    <a:pt x="72205" y="902429"/>
                  </a:lnTo>
                  <a:cubicBezTo>
                    <a:pt x="53055" y="902429"/>
                    <a:pt x="34690" y="894822"/>
                    <a:pt x="21148" y="881281"/>
                  </a:cubicBezTo>
                  <a:cubicBezTo>
                    <a:pt x="7607" y="867739"/>
                    <a:pt x="0" y="849374"/>
                    <a:pt x="0" y="830224"/>
                  </a:cubicBezTo>
                  <a:lnTo>
                    <a:pt x="0" y="72205"/>
                  </a:lnTo>
                  <a:cubicBezTo>
                    <a:pt x="0" y="53055"/>
                    <a:pt x="7607" y="34690"/>
                    <a:pt x="21148" y="21148"/>
                  </a:cubicBezTo>
                  <a:cubicBezTo>
                    <a:pt x="34690" y="7607"/>
                    <a:pt x="53055" y="0"/>
                    <a:pt x="722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3131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440203" cy="959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195509" y="6260416"/>
            <a:ext cx="5468269" cy="3426410"/>
            <a:chOff x="0" y="0"/>
            <a:chExt cx="1440203" cy="90242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40203" cy="902429"/>
            </a:xfrm>
            <a:custGeom>
              <a:avLst/>
              <a:gdLst/>
              <a:ahLst/>
              <a:cxnLst/>
              <a:rect l="l" t="t" r="r" b="b"/>
              <a:pathLst>
                <a:path w="1440203" h="902429">
                  <a:moveTo>
                    <a:pt x="72205" y="0"/>
                  </a:moveTo>
                  <a:lnTo>
                    <a:pt x="1367997" y="0"/>
                  </a:lnTo>
                  <a:cubicBezTo>
                    <a:pt x="1407875" y="0"/>
                    <a:pt x="1440203" y="32327"/>
                    <a:pt x="1440203" y="72205"/>
                  </a:cubicBezTo>
                  <a:lnTo>
                    <a:pt x="1440203" y="830224"/>
                  </a:lnTo>
                  <a:cubicBezTo>
                    <a:pt x="1440203" y="849374"/>
                    <a:pt x="1432595" y="867739"/>
                    <a:pt x="1419054" y="881281"/>
                  </a:cubicBezTo>
                  <a:cubicBezTo>
                    <a:pt x="1405513" y="894822"/>
                    <a:pt x="1387147" y="902429"/>
                    <a:pt x="1367997" y="902429"/>
                  </a:cubicBezTo>
                  <a:lnTo>
                    <a:pt x="72205" y="902429"/>
                  </a:lnTo>
                  <a:cubicBezTo>
                    <a:pt x="53055" y="902429"/>
                    <a:pt x="34690" y="894822"/>
                    <a:pt x="21148" y="881281"/>
                  </a:cubicBezTo>
                  <a:cubicBezTo>
                    <a:pt x="7607" y="867739"/>
                    <a:pt x="0" y="849374"/>
                    <a:pt x="0" y="830224"/>
                  </a:cubicBezTo>
                  <a:lnTo>
                    <a:pt x="0" y="72205"/>
                  </a:lnTo>
                  <a:cubicBezTo>
                    <a:pt x="0" y="53055"/>
                    <a:pt x="7607" y="34690"/>
                    <a:pt x="21148" y="21148"/>
                  </a:cubicBezTo>
                  <a:cubicBezTo>
                    <a:pt x="34690" y="7607"/>
                    <a:pt x="53055" y="0"/>
                    <a:pt x="722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440203" cy="959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27675" y="6564810"/>
            <a:ext cx="5227586" cy="545246"/>
            <a:chOff x="0" y="0"/>
            <a:chExt cx="3554357" cy="37072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554357" cy="408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19"/>
                </a:lnSpc>
              </a:pPr>
              <a:r>
                <a:rPr lang="en-US" sz="1799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Levantamiento de requerimientos funcionales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77027" y="7359788"/>
            <a:ext cx="4709832" cy="491244"/>
            <a:chOff x="0" y="0"/>
            <a:chExt cx="3554357" cy="37072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554357" cy="408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Recopilación de catálogos y precios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01927" y="8100763"/>
            <a:ext cx="4609924" cy="480823"/>
            <a:chOff x="0" y="0"/>
            <a:chExt cx="3554357" cy="37072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3554357" cy="408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Preparación inicial para desarrollo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006384" y="6612262"/>
            <a:ext cx="4500332" cy="469392"/>
            <a:chOff x="0" y="0"/>
            <a:chExt cx="3554357" cy="37072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3554357" cy="408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Diseño BD, UML e Interfaces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36506" y="8866339"/>
            <a:ext cx="4609924" cy="480823"/>
            <a:chOff x="0" y="0"/>
            <a:chExt cx="3554357" cy="37072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3554357" cy="408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Retrospectiva integrantes del equipo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935390" y="7358872"/>
            <a:ext cx="4718610" cy="492159"/>
            <a:chOff x="0" y="0"/>
            <a:chExt cx="3554357" cy="37072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3554357" cy="408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Desarrollo Backend y Frontend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082673" y="8110457"/>
            <a:ext cx="4424043" cy="461435"/>
            <a:chOff x="0" y="0"/>
            <a:chExt cx="3554357" cy="37072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3554357" cy="408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Docker, QA y Corrección Errores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082673" y="8866339"/>
            <a:ext cx="4424043" cy="461435"/>
            <a:chOff x="0" y="0"/>
            <a:chExt cx="3554357" cy="37072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3554357" cy="408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Diseño de prototipado / Mockup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503733" y="6857030"/>
            <a:ext cx="4851821" cy="506053"/>
            <a:chOff x="0" y="0"/>
            <a:chExt cx="3554357" cy="37072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3554357" cy="408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Documentación técnica y manuales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580515" y="7726240"/>
            <a:ext cx="4543703" cy="482495"/>
            <a:chOff x="0" y="0"/>
            <a:chExt cx="3554357" cy="37743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554357" cy="377436"/>
            </a:xfrm>
            <a:custGeom>
              <a:avLst/>
              <a:gdLst/>
              <a:ahLst/>
              <a:cxnLst/>
              <a:rect l="l" t="t" r="r" b="b"/>
              <a:pathLst>
                <a:path w="3554357" h="377436">
                  <a:moveTo>
                    <a:pt x="3351157" y="0"/>
                  </a:moveTo>
                  <a:cubicBezTo>
                    <a:pt x="3463382" y="0"/>
                    <a:pt x="3554357" y="84492"/>
                    <a:pt x="3554357" y="188718"/>
                  </a:cubicBezTo>
                  <a:cubicBezTo>
                    <a:pt x="3554357" y="292944"/>
                    <a:pt x="3463382" y="377436"/>
                    <a:pt x="3351157" y="377436"/>
                  </a:cubicBezTo>
                  <a:lnTo>
                    <a:pt x="203200" y="377436"/>
                  </a:lnTo>
                  <a:cubicBezTo>
                    <a:pt x="90976" y="377436"/>
                    <a:pt x="0" y="292944"/>
                    <a:pt x="0" y="188718"/>
                  </a:cubicBezTo>
                  <a:cubicBezTo>
                    <a:pt x="0" y="8449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3554357" cy="415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Demostración final de sistema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569236" y="8571892"/>
            <a:ext cx="4690064" cy="489182"/>
            <a:chOff x="0" y="0"/>
            <a:chExt cx="3554357" cy="37072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3554357" cy="408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</a:pPr>
              <a:r>
                <a:rPr lang="en-US" sz="18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Presentación ante comisión evaluadora</a:t>
              </a:r>
            </a:p>
          </p:txBody>
        </p:sp>
      </p:grpSp>
      <p:sp>
        <p:nvSpPr>
          <p:cNvPr id="65" name="Freeform 65"/>
          <p:cNvSpPr/>
          <p:nvPr/>
        </p:nvSpPr>
        <p:spPr>
          <a:xfrm>
            <a:off x="1028700" y="4501998"/>
            <a:ext cx="1555033" cy="1298452"/>
          </a:xfrm>
          <a:custGeom>
            <a:avLst/>
            <a:gdLst/>
            <a:ahLst/>
            <a:cxnLst/>
            <a:rect l="l" t="t" r="r" b="b"/>
            <a:pathLst>
              <a:path w="1555033" h="1298452">
                <a:moveTo>
                  <a:pt x="0" y="0"/>
                </a:moveTo>
                <a:lnTo>
                  <a:pt x="1555033" y="0"/>
                </a:lnTo>
                <a:lnTo>
                  <a:pt x="1555033" y="1298452"/>
                </a:lnTo>
                <a:lnTo>
                  <a:pt x="0" y="1298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6" name="Freeform 66"/>
          <p:cNvSpPr/>
          <p:nvPr/>
        </p:nvSpPr>
        <p:spPr>
          <a:xfrm>
            <a:off x="6953010" y="4432270"/>
            <a:ext cx="628834" cy="1479611"/>
          </a:xfrm>
          <a:custGeom>
            <a:avLst/>
            <a:gdLst/>
            <a:ahLst/>
            <a:cxnLst/>
            <a:rect l="l" t="t" r="r" b="b"/>
            <a:pathLst>
              <a:path w="628834" h="1479611">
                <a:moveTo>
                  <a:pt x="0" y="0"/>
                </a:moveTo>
                <a:lnTo>
                  <a:pt x="628834" y="0"/>
                </a:lnTo>
                <a:lnTo>
                  <a:pt x="628834" y="1479610"/>
                </a:lnTo>
                <a:lnTo>
                  <a:pt x="0" y="14796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7" name="Freeform 67"/>
          <p:cNvSpPr/>
          <p:nvPr/>
        </p:nvSpPr>
        <p:spPr>
          <a:xfrm>
            <a:off x="12569236" y="4485530"/>
            <a:ext cx="1085081" cy="1331387"/>
          </a:xfrm>
          <a:custGeom>
            <a:avLst/>
            <a:gdLst/>
            <a:ahLst/>
            <a:cxnLst/>
            <a:rect l="l" t="t" r="r" b="b"/>
            <a:pathLst>
              <a:path w="1085081" h="1331387">
                <a:moveTo>
                  <a:pt x="0" y="0"/>
                </a:moveTo>
                <a:lnTo>
                  <a:pt x="1085081" y="0"/>
                </a:lnTo>
                <a:lnTo>
                  <a:pt x="1085081" y="1331388"/>
                </a:lnTo>
                <a:lnTo>
                  <a:pt x="0" y="13313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8" name="Freeform 68"/>
          <p:cNvSpPr/>
          <p:nvPr/>
        </p:nvSpPr>
        <p:spPr>
          <a:xfrm rot="-5400000">
            <a:off x="5868948" y="2299133"/>
            <a:ext cx="846270" cy="1819935"/>
          </a:xfrm>
          <a:custGeom>
            <a:avLst/>
            <a:gdLst/>
            <a:ahLst/>
            <a:cxnLst/>
            <a:rect l="l" t="t" r="r" b="b"/>
            <a:pathLst>
              <a:path w="846270" h="1819935">
                <a:moveTo>
                  <a:pt x="0" y="0"/>
                </a:moveTo>
                <a:lnTo>
                  <a:pt x="846270" y="0"/>
                </a:lnTo>
                <a:lnTo>
                  <a:pt x="846270" y="1819935"/>
                </a:lnTo>
                <a:lnTo>
                  <a:pt x="0" y="18199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9" name="Freeform 69"/>
          <p:cNvSpPr/>
          <p:nvPr/>
        </p:nvSpPr>
        <p:spPr>
          <a:xfrm rot="-5400000">
            <a:off x="11656997" y="2319318"/>
            <a:ext cx="846270" cy="1819935"/>
          </a:xfrm>
          <a:custGeom>
            <a:avLst/>
            <a:gdLst/>
            <a:ahLst/>
            <a:cxnLst/>
            <a:rect l="l" t="t" r="r" b="b"/>
            <a:pathLst>
              <a:path w="846270" h="1819935">
                <a:moveTo>
                  <a:pt x="0" y="0"/>
                </a:moveTo>
                <a:lnTo>
                  <a:pt x="846270" y="0"/>
                </a:lnTo>
                <a:lnTo>
                  <a:pt x="846270" y="1819934"/>
                </a:lnTo>
                <a:lnTo>
                  <a:pt x="0" y="1819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0" name="Group 70"/>
          <p:cNvGrpSpPr/>
          <p:nvPr/>
        </p:nvGrpSpPr>
        <p:grpSpPr>
          <a:xfrm>
            <a:off x="2700759" y="5087210"/>
            <a:ext cx="3086100" cy="661392"/>
            <a:chOff x="0" y="0"/>
            <a:chExt cx="812800" cy="17419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12800" cy="174194"/>
            </a:xfrm>
            <a:custGeom>
              <a:avLst/>
              <a:gdLst/>
              <a:ahLst/>
              <a:cxnLst/>
              <a:rect l="l" t="t" r="r" b="b"/>
              <a:pathLst>
                <a:path w="812800" h="174194">
                  <a:moveTo>
                    <a:pt x="0" y="0"/>
                  </a:moveTo>
                  <a:lnTo>
                    <a:pt x="812800" y="0"/>
                  </a:lnTo>
                  <a:lnTo>
                    <a:pt x="812800" y="174194"/>
                  </a:lnTo>
                  <a:lnTo>
                    <a:pt x="0" y="174194"/>
                  </a:lnTo>
                  <a:close/>
                </a:path>
              </a:pathLst>
            </a:custGeom>
            <a:solidFill>
              <a:srgbClr val="2A3DC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57150"/>
              <a:ext cx="812800" cy="23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186654" y="5087210"/>
            <a:ext cx="3320063" cy="661392"/>
            <a:chOff x="0" y="0"/>
            <a:chExt cx="874420" cy="17419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74420" cy="174194"/>
            </a:xfrm>
            <a:custGeom>
              <a:avLst/>
              <a:gdLst/>
              <a:ahLst/>
              <a:cxnLst/>
              <a:rect l="l" t="t" r="r" b="b"/>
              <a:pathLst>
                <a:path w="874420" h="174194">
                  <a:moveTo>
                    <a:pt x="0" y="0"/>
                  </a:moveTo>
                  <a:lnTo>
                    <a:pt x="874420" y="0"/>
                  </a:lnTo>
                  <a:lnTo>
                    <a:pt x="874420" y="174194"/>
                  </a:lnTo>
                  <a:lnTo>
                    <a:pt x="0" y="174194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57150"/>
              <a:ext cx="874420" cy="23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4168941" y="5087210"/>
            <a:ext cx="3086100" cy="661392"/>
            <a:chOff x="0" y="0"/>
            <a:chExt cx="812800" cy="17419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12800" cy="174194"/>
            </a:xfrm>
            <a:custGeom>
              <a:avLst/>
              <a:gdLst/>
              <a:ahLst/>
              <a:cxnLst/>
              <a:rect l="l" t="t" r="r" b="b"/>
              <a:pathLst>
                <a:path w="812800" h="174194">
                  <a:moveTo>
                    <a:pt x="0" y="0"/>
                  </a:moveTo>
                  <a:lnTo>
                    <a:pt x="812800" y="0"/>
                  </a:lnTo>
                  <a:lnTo>
                    <a:pt x="812800" y="174194"/>
                  </a:lnTo>
                  <a:lnTo>
                    <a:pt x="0" y="174194"/>
                  </a:ln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57150"/>
              <a:ext cx="812800" cy="23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9" name="Freeform 79"/>
          <p:cNvSpPr/>
          <p:nvPr/>
        </p:nvSpPr>
        <p:spPr>
          <a:xfrm>
            <a:off x="10486573" y="660839"/>
            <a:ext cx="2227341" cy="991167"/>
          </a:xfrm>
          <a:custGeom>
            <a:avLst/>
            <a:gdLst/>
            <a:ahLst/>
            <a:cxnLst/>
            <a:rect l="l" t="t" r="r" b="b"/>
            <a:pathLst>
              <a:path w="2227341" h="991167">
                <a:moveTo>
                  <a:pt x="0" y="0"/>
                </a:moveTo>
                <a:lnTo>
                  <a:pt x="2227342" y="0"/>
                </a:lnTo>
                <a:lnTo>
                  <a:pt x="2227342" y="991166"/>
                </a:lnTo>
                <a:lnTo>
                  <a:pt x="0" y="9911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0" name="TextBox 80"/>
          <p:cNvSpPr txBox="1"/>
          <p:nvPr/>
        </p:nvSpPr>
        <p:spPr>
          <a:xfrm>
            <a:off x="1136506" y="651314"/>
            <a:ext cx="12481356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6000" b="1">
                <a:solidFill>
                  <a:srgbClr val="004AAD"/>
                </a:solidFill>
                <a:latin typeface="Raleway Bold"/>
                <a:ea typeface="Raleway Bold"/>
                <a:cs typeface="Raleway Bold"/>
                <a:sym typeface="Raleway Bold"/>
              </a:rPr>
              <a:t>Fases Definidas Proyecto HomeCount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441468" y="4444848"/>
            <a:ext cx="146402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4EC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FASE [1]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144000" y="4444848"/>
            <a:ext cx="146402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4EC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FASE [2]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4852367" y="4444848"/>
            <a:ext cx="146402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4EC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FASE [3]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2804492" y="5237249"/>
            <a:ext cx="2878634" cy="32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F4EC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Definición proyecto APT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423746" y="5237249"/>
            <a:ext cx="2904530" cy="32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F4EC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Desarrollo proyecto APT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4406420" y="5227724"/>
            <a:ext cx="2631728" cy="32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F4ECE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Defenza proyecto APT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51740" y="-884409"/>
            <a:ext cx="14096415" cy="11171409"/>
          </a:xfrm>
          <a:custGeom>
            <a:avLst/>
            <a:gdLst/>
            <a:ahLst/>
            <a:cxnLst/>
            <a:rect l="l" t="t" r="r" b="b"/>
            <a:pathLst>
              <a:path w="14096415" h="11171409">
                <a:moveTo>
                  <a:pt x="0" y="0"/>
                </a:moveTo>
                <a:lnTo>
                  <a:pt x="14096415" y="0"/>
                </a:lnTo>
                <a:lnTo>
                  <a:pt x="14096415" y="11171409"/>
                </a:lnTo>
                <a:lnTo>
                  <a:pt x="0" y="11171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2240748" y="1190989"/>
            <a:ext cx="5018552" cy="8252502"/>
            <a:chOff x="0" y="0"/>
            <a:chExt cx="777505" cy="12785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7505" cy="1278529"/>
            </a:xfrm>
            <a:custGeom>
              <a:avLst/>
              <a:gdLst/>
              <a:ahLst/>
              <a:cxnLst/>
              <a:rect l="l" t="t" r="r" b="b"/>
              <a:pathLst>
                <a:path w="777505" h="1278529">
                  <a:moveTo>
                    <a:pt x="259308" y="19070"/>
                  </a:moveTo>
                  <a:cubicBezTo>
                    <a:pt x="299040" y="7556"/>
                    <a:pt x="344486" y="0"/>
                    <a:pt x="388962" y="0"/>
                  </a:cubicBezTo>
                  <a:cubicBezTo>
                    <a:pt x="433440" y="0"/>
                    <a:pt x="476238" y="6476"/>
                    <a:pt x="515679" y="17990"/>
                  </a:cubicBezTo>
                  <a:cubicBezTo>
                    <a:pt x="516519" y="18350"/>
                    <a:pt x="517358" y="18350"/>
                    <a:pt x="518197" y="18710"/>
                  </a:cubicBezTo>
                  <a:cubicBezTo>
                    <a:pt x="666313" y="64765"/>
                    <a:pt x="775407" y="186379"/>
                    <a:pt x="777505" y="338847"/>
                  </a:cubicBezTo>
                  <a:lnTo>
                    <a:pt x="777505" y="1178256"/>
                  </a:lnTo>
                  <a:cubicBezTo>
                    <a:pt x="777505" y="1204850"/>
                    <a:pt x="766941" y="1230354"/>
                    <a:pt x="748136" y="1249159"/>
                  </a:cubicBezTo>
                  <a:cubicBezTo>
                    <a:pt x="729331" y="1267964"/>
                    <a:pt x="703826" y="1278529"/>
                    <a:pt x="677232" y="1278529"/>
                  </a:cubicBezTo>
                  <a:lnTo>
                    <a:pt x="100273" y="1278529"/>
                  </a:lnTo>
                  <a:cubicBezTo>
                    <a:pt x="73679" y="1278529"/>
                    <a:pt x="48174" y="1267964"/>
                    <a:pt x="29369" y="1249159"/>
                  </a:cubicBezTo>
                  <a:cubicBezTo>
                    <a:pt x="10564" y="1230354"/>
                    <a:pt x="0" y="1204850"/>
                    <a:pt x="0" y="1178256"/>
                  </a:cubicBezTo>
                  <a:lnTo>
                    <a:pt x="0" y="339545"/>
                  </a:lnTo>
                  <a:cubicBezTo>
                    <a:pt x="2098" y="185660"/>
                    <a:pt x="109514" y="64045"/>
                    <a:pt x="259308" y="19070"/>
                  </a:cubicBezTo>
                  <a:lnTo>
                    <a:pt x="259308" y="19070"/>
                  </a:lnTo>
                  <a:close/>
                </a:path>
              </a:pathLst>
            </a:custGeom>
            <a:blipFill>
              <a:blip r:embed="rId3"/>
              <a:stretch>
                <a:fillRect l="-73639" r="-73639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960576"/>
            <a:ext cx="8857389" cy="567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HomeCount Simulator genera un alto impacto social que transforma la autoconstrucción en un proceso seguro y digno para las familias más vulnerables de zonas periféricas como Melipilla, San Antonio y el Gran Santiago. Al democratizar el conocimiento técnico y centralizar de manera intuitiva los presupuestos y materiales.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 plataforma ayuda a protege los limitados ahorros de los usuarios y reduce drásticamente el abandono de proyectos habitacionales. Más que una aplicación, es un motor de equidad que elimina las brechas de información y empodera a las comunidades, garantizándoles la confianza y el respaldo necesarios para que el sueño de la vivienda propia no se convierta en una obra inconclusa.</a:t>
            </a:r>
          </a:p>
        </p:txBody>
      </p:sp>
      <p:sp>
        <p:nvSpPr>
          <p:cNvPr id="6" name="Freeform 6"/>
          <p:cNvSpPr/>
          <p:nvPr/>
        </p:nvSpPr>
        <p:spPr>
          <a:xfrm>
            <a:off x="9144000" y="8224375"/>
            <a:ext cx="2702505" cy="2702505"/>
          </a:xfrm>
          <a:custGeom>
            <a:avLst/>
            <a:gdLst/>
            <a:ahLst/>
            <a:cxnLst/>
            <a:rect l="l" t="t" r="r" b="b"/>
            <a:pathLst>
              <a:path w="2702505" h="2702505">
                <a:moveTo>
                  <a:pt x="0" y="0"/>
                </a:moveTo>
                <a:lnTo>
                  <a:pt x="2702505" y="0"/>
                </a:lnTo>
                <a:lnTo>
                  <a:pt x="2702505" y="2702505"/>
                </a:lnTo>
                <a:lnTo>
                  <a:pt x="0" y="27025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028700" y="-884409"/>
            <a:ext cx="2141965" cy="2141965"/>
          </a:xfrm>
          <a:custGeom>
            <a:avLst/>
            <a:gdLst/>
            <a:ahLst/>
            <a:cxnLst/>
            <a:rect l="l" t="t" r="r" b="b"/>
            <a:pathLst>
              <a:path w="2141965" h="2141965">
                <a:moveTo>
                  <a:pt x="0" y="0"/>
                </a:moveTo>
                <a:lnTo>
                  <a:pt x="2141965" y="0"/>
                </a:lnTo>
                <a:lnTo>
                  <a:pt x="2141965" y="2141965"/>
                </a:lnTo>
                <a:lnTo>
                  <a:pt x="0" y="2141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14987873" y="520676"/>
            <a:ext cx="2726696" cy="670313"/>
          </a:xfrm>
          <a:custGeom>
            <a:avLst/>
            <a:gdLst/>
            <a:ahLst/>
            <a:cxnLst/>
            <a:rect l="l" t="t" r="r" b="b"/>
            <a:pathLst>
              <a:path w="2726696" h="670313">
                <a:moveTo>
                  <a:pt x="0" y="0"/>
                </a:moveTo>
                <a:lnTo>
                  <a:pt x="2726696" y="0"/>
                </a:lnTo>
                <a:lnTo>
                  <a:pt x="2726696" y="670313"/>
                </a:lnTo>
                <a:lnTo>
                  <a:pt x="0" y="6703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9498250" y="1257556"/>
            <a:ext cx="2259864" cy="1322020"/>
          </a:xfrm>
          <a:custGeom>
            <a:avLst/>
            <a:gdLst/>
            <a:ahLst/>
            <a:cxnLst/>
            <a:rect l="l" t="t" r="r" b="b"/>
            <a:pathLst>
              <a:path w="2259864" h="1322020">
                <a:moveTo>
                  <a:pt x="0" y="0"/>
                </a:moveTo>
                <a:lnTo>
                  <a:pt x="2259864" y="0"/>
                </a:lnTo>
                <a:lnTo>
                  <a:pt x="2259864" y="1322020"/>
                </a:lnTo>
                <a:lnTo>
                  <a:pt x="0" y="13220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TextBox 10"/>
          <p:cNvSpPr txBox="1"/>
          <p:nvPr/>
        </p:nvSpPr>
        <p:spPr>
          <a:xfrm>
            <a:off x="1028700" y="1686005"/>
            <a:ext cx="7986915" cy="725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41"/>
              </a:lnSpc>
            </a:pPr>
            <a:r>
              <a:rPr lang="en-US" sz="4668" b="1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Impacto y Valor del Proyecto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51740" y="-884409"/>
            <a:ext cx="14096415" cy="11171409"/>
          </a:xfrm>
          <a:custGeom>
            <a:avLst/>
            <a:gdLst/>
            <a:ahLst/>
            <a:cxnLst/>
            <a:rect l="l" t="t" r="r" b="b"/>
            <a:pathLst>
              <a:path w="14096415" h="11171409">
                <a:moveTo>
                  <a:pt x="0" y="0"/>
                </a:moveTo>
                <a:lnTo>
                  <a:pt x="14096415" y="0"/>
                </a:lnTo>
                <a:lnTo>
                  <a:pt x="14096415" y="11171409"/>
                </a:lnTo>
                <a:lnTo>
                  <a:pt x="0" y="11171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2240748" y="1190989"/>
            <a:ext cx="5018552" cy="8252502"/>
            <a:chOff x="0" y="0"/>
            <a:chExt cx="777505" cy="12785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7505" cy="1278529"/>
            </a:xfrm>
            <a:custGeom>
              <a:avLst/>
              <a:gdLst/>
              <a:ahLst/>
              <a:cxnLst/>
              <a:rect l="l" t="t" r="r" b="b"/>
              <a:pathLst>
                <a:path w="777505" h="1278529">
                  <a:moveTo>
                    <a:pt x="259308" y="19070"/>
                  </a:moveTo>
                  <a:cubicBezTo>
                    <a:pt x="299040" y="7556"/>
                    <a:pt x="344486" y="0"/>
                    <a:pt x="388962" y="0"/>
                  </a:cubicBezTo>
                  <a:cubicBezTo>
                    <a:pt x="433440" y="0"/>
                    <a:pt x="476238" y="6476"/>
                    <a:pt x="515679" y="17990"/>
                  </a:cubicBezTo>
                  <a:cubicBezTo>
                    <a:pt x="516519" y="18350"/>
                    <a:pt x="517358" y="18350"/>
                    <a:pt x="518197" y="18710"/>
                  </a:cubicBezTo>
                  <a:cubicBezTo>
                    <a:pt x="666313" y="64765"/>
                    <a:pt x="775407" y="186379"/>
                    <a:pt x="777505" y="338847"/>
                  </a:cubicBezTo>
                  <a:lnTo>
                    <a:pt x="777505" y="1178256"/>
                  </a:lnTo>
                  <a:cubicBezTo>
                    <a:pt x="777505" y="1204850"/>
                    <a:pt x="766941" y="1230354"/>
                    <a:pt x="748136" y="1249159"/>
                  </a:cubicBezTo>
                  <a:cubicBezTo>
                    <a:pt x="729331" y="1267964"/>
                    <a:pt x="703826" y="1278529"/>
                    <a:pt x="677232" y="1278529"/>
                  </a:cubicBezTo>
                  <a:lnTo>
                    <a:pt x="100273" y="1278529"/>
                  </a:lnTo>
                  <a:cubicBezTo>
                    <a:pt x="73679" y="1278529"/>
                    <a:pt x="48174" y="1267964"/>
                    <a:pt x="29369" y="1249159"/>
                  </a:cubicBezTo>
                  <a:cubicBezTo>
                    <a:pt x="10564" y="1230354"/>
                    <a:pt x="0" y="1204850"/>
                    <a:pt x="0" y="1178256"/>
                  </a:cubicBezTo>
                  <a:lnTo>
                    <a:pt x="0" y="339545"/>
                  </a:lnTo>
                  <a:cubicBezTo>
                    <a:pt x="2098" y="185660"/>
                    <a:pt x="109514" y="64045"/>
                    <a:pt x="259308" y="19070"/>
                  </a:cubicBezTo>
                  <a:lnTo>
                    <a:pt x="259308" y="19070"/>
                  </a:lnTo>
                  <a:close/>
                </a:path>
              </a:pathLst>
            </a:custGeom>
            <a:blipFill>
              <a:blip r:embed="rId3"/>
              <a:stretch>
                <a:fillRect l="-74575" r="-74575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8224375"/>
            <a:ext cx="2702505" cy="2702505"/>
          </a:xfrm>
          <a:custGeom>
            <a:avLst/>
            <a:gdLst/>
            <a:ahLst/>
            <a:cxnLst/>
            <a:rect l="l" t="t" r="r" b="b"/>
            <a:pathLst>
              <a:path w="2702505" h="2702505">
                <a:moveTo>
                  <a:pt x="0" y="0"/>
                </a:moveTo>
                <a:lnTo>
                  <a:pt x="2702505" y="0"/>
                </a:lnTo>
                <a:lnTo>
                  <a:pt x="2702505" y="2702505"/>
                </a:lnTo>
                <a:lnTo>
                  <a:pt x="0" y="27025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028700" y="-884409"/>
            <a:ext cx="2141965" cy="2141965"/>
          </a:xfrm>
          <a:custGeom>
            <a:avLst/>
            <a:gdLst/>
            <a:ahLst/>
            <a:cxnLst/>
            <a:rect l="l" t="t" r="r" b="b"/>
            <a:pathLst>
              <a:path w="2141965" h="2141965">
                <a:moveTo>
                  <a:pt x="0" y="0"/>
                </a:moveTo>
                <a:lnTo>
                  <a:pt x="2141965" y="0"/>
                </a:lnTo>
                <a:lnTo>
                  <a:pt x="2141965" y="2141965"/>
                </a:lnTo>
                <a:lnTo>
                  <a:pt x="0" y="2141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4987873" y="520676"/>
            <a:ext cx="2726696" cy="670313"/>
          </a:xfrm>
          <a:custGeom>
            <a:avLst/>
            <a:gdLst/>
            <a:ahLst/>
            <a:cxnLst/>
            <a:rect l="l" t="t" r="r" b="b"/>
            <a:pathLst>
              <a:path w="2726696" h="670313">
                <a:moveTo>
                  <a:pt x="0" y="0"/>
                </a:moveTo>
                <a:lnTo>
                  <a:pt x="2726696" y="0"/>
                </a:lnTo>
                <a:lnTo>
                  <a:pt x="2726696" y="670313"/>
                </a:lnTo>
                <a:lnTo>
                  <a:pt x="0" y="6703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9144000" y="855833"/>
            <a:ext cx="3253656" cy="2391437"/>
          </a:xfrm>
          <a:custGeom>
            <a:avLst/>
            <a:gdLst/>
            <a:ahLst/>
            <a:cxnLst/>
            <a:rect l="l" t="t" r="r" b="b"/>
            <a:pathLst>
              <a:path w="3253656" h="2391437">
                <a:moveTo>
                  <a:pt x="0" y="0"/>
                </a:moveTo>
                <a:lnTo>
                  <a:pt x="3253656" y="0"/>
                </a:lnTo>
                <a:lnTo>
                  <a:pt x="3253656" y="2391437"/>
                </a:lnTo>
                <a:lnTo>
                  <a:pt x="0" y="23914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1028700" y="1686005"/>
            <a:ext cx="7986915" cy="112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77"/>
              </a:lnSpc>
            </a:pPr>
            <a:r>
              <a:rPr lang="en-US" sz="7298" b="1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Proyección Futura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998005"/>
            <a:ext cx="8857389" cy="523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Para futuro se espera forjar alianzas estratégicas con municipios y fundaciones en zonas de alta demanda como Melipilla, San Antonio y la periferia de Santiago. Este despliegue en terreno se potenciará al integrar a las ferreterías locales para ofrecer cotizaciones en tiempo real y al evolucionar hacia una aplicación móvil optimizada con un catálogo ampliado.</a:t>
            </a:r>
          </a:p>
          <a:p>
            <a:pPr marL="0" lvl="0" indent="0" algn="l">
              <a:lnSpc>
                <a:spcPts val="3450"/>
              </a:lnSpc>
            </a:pPr>
            <a:r>
              <a:rPr lang="en-US" sz="230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 esta forma, la plataforma “HomeCount Simulator” puede lograr consolidarce como una solución tecnológica sostenible y de alto impacto que empodera a las comunidades, garantizando que la autoconstrucción de sus hogares sea un proceso transparente, accesible y seguro.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51740" y="-884409"/>
            <a:ext cx="14096415" cy="11171409"/>
          </a:xfrm>
          <a:custGeom>
            <a:avLst/>
            <a:gdLst/>
            <a:ahLst/>
            <a:cxnLst/>
            <a:rect l="l" t="t" r="r" b="b"/>
            <a:pathLst>
              <a:path w="14096415" h="11171409">
                <a:moveTo>
                  <a:pt x="0" y="0"/>
                </a:moveTo>
                <a:lnTo>
                  <a:pt x="14096415" y="0"/>
                </a:lnTo>
                <a:lnTo>
                  <a:pt x="14096415" y="11171409"/>
                </a:lnTo>
                <a:lnTo>
                  <a:pt x="0" y="11171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5908047" y="8935747"/>
            <a:ext cx="2702505" cy="2702505"/>
          </a:xfrm>
          <a:custGeom>
            <a:avLst/>
            <a:gdLst/>
            <a:ahLst/>
            <a:cxnLst/>
            <a:rect l="l" t="t" r="r" b="b"/>
            <a:pathLst>
              <a:path w="2702505" h="2702505">
                <a:moveTo>
                  <a:pt x="0" y="0"/>
                </a:moveTo>
                <a:lnTo>
                  <a:pt x="2702506" y="0"/>
                </a:lnTo>
                <a:lnTo>
                  <a:pt x="2702506" y="2702506"/>
                </a:lnTo>
                <a:lnTo>
                  <a:pt x="0" y="27025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028700" y="-884409"/>
            <a:ext cx="2141965" cy="2141965"/>
          </a:xfrm>
          <a:custGeom>
            <a:avLst/>
            <a:gdLst/>
            <a:ahLst/>
            <a:cxnLst/>
            <a:rect l="l" t="t" r="r" b="b"/>
            <a:pathLst>
              <a:path w="2141965" h="2141965">
                <a:moveTo>
                  <a:pt x="0" y="0"/>
                </a:moveTo>
                <a:lnTo>
                  <a:pt x="2141965" y="0"/>
                </a:lnTo>
                <a:lnTo>
                  <a:pt x="2141965" y="2141965"/>
                </a:lnTo>
                <a:lnTo>
                  <a:pt x="0" y="2141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421570" y="1028700"/>
            <a:ext cx="4170042" cy="4170042"/>
          </a:xfrm>
          <a:custGeom>
            <a:avLst/>
            <a:gdLst/>
            <a:ahLst/>
            <a:cxnLst/>
            <a:rect l="l" t="t" r="r" b="b"/>
            <a:pathLst>
              <a:path w="4170042" h="4170042">
                <a:moveTo>
                  <a:pt x="0" y="0"/>
                </a:moveTo>
                <a:lnTo>
                  <a:pt x="4170042" y="0"/>
                </a:lnTo>
                <a:lnTo>
                  <a:pt x="4170042" y="4170042"/>
                </a:lnTo>
                <a:lnTo>
                  <a:pt x="0" y="4170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2839503" y="855833"/>
            <a:ext cx="7023436" cy="7023436"/>
          </a:xfrm>
          <a:custGeom>
            <a:avLst/>
            <a:gdLst/>
            <a:ahLst/>
            <a:cxnLst/>
            <a:rect l="l" t="t" r="r" b="b"/>
            <a:pathLst>
              <a:path w="7023436" h="7023436">
                <a:moveTo>
                  <a:pt x="0" y="0"/>
                </a:moveTo>
                <a:lnTo>
                  <a:pt x="7023436" y="0"/>
                </a:lnTo>
                <a:lnTo>
                  <a:pt x="7023436" y="7023435"/>
                </a:lnTo>
                <a:lnTo>
                  <a:pt x="0" y="7023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421570" y="5392137"/>
            <a:ext cx="6014861" cy="5293077"/>
          </a:xfrm>
          <a:custGeom>
            <a:avLst/>
            <a:gdLst/>
            <a:ahLst/>
            <a:cxnLst/>
            <a:rect l="l" t="t" r="r" b="b"/>
            <a:pathLst>
              <a:path w="6014861" h="5293077">
                <a:moveTo>
                  <a:pt x="0" y="0"/>
                </a:moveTo>
                <a:lnTo>
                  <a:pt x="6014860" y="0"/>
                </a:lnTo>
                <a:lnTo>
                  <a:pt x="6014860" y="5293077"/>
                </a:lnTo>
                <a:lnTo>
                  <a:pt x="0" y="52930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9327824" y="6610785"/>
            <a:ext cx="3811846" cy="3403433"/>
          </a:xfrm>
          <a:custGeom>
            <a:avLst/>
            <a:gdLst/>
            <a:ahLst/>
            <a:cxnLst/>
            <a:rect l="l" t="t" r="r" b="b"/>
            <a:pathLst>
              <a:path w="3811846" h="3403433">
                <a:moveTo>
                  <a:pt x="0" y="0"/>
                </a:moveTo>
                <a:lnTo>
                  <a:pt x="3811845" y="0"/>
                </a:lnTo>
                <a:lnTo>
                  <a:pt x="3811845" y="3403433"/>
                </a:lnTo>
                <a:lnTo>
                  <a:pt x="0" y="34034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6837724" y="1257556"/>
            <a:ext cx="4612552" cy="1133919"/>
          </a:xfrm>
          <a:custGeom>
            <a:avLst/>
            <a:gdLst/>
            <a:ahLst/>
            <a:cxnLst/>
            <a:rect l="l" t="t" r="r" b="b"/>
            <a:pathLst>
              <a:path w="4612552" h="1133919">
                <a:moveTo>
                  <a:pt x="0" y="0"/>
                </a:moveTo>
                <a:lnTo>
                  <a:pt x="4612552" y="0"/>
                </a:lnTo>
                <a:lnTo>
                  <a:pt x="4612552" y="1133919"/>
                </a:lnTo>
                <a:lnTo>
                  <a:pt x="0" y="1133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0" name="Group 10"/>
          <p:cNvGrpSpPr/>
          <p:nvPr/>
        </p:nvGrpSpPr>
        <p:grpSpPr>
          <a:xfrm>
            <a:off x="5306154" y="3781635"/>
            <a:ext cx="7675692" cy="2723729"/>
            <a:chOff x="0" y="0"/>
            <a:chExt cx="10234256" cy="3631639"/>
          </a:xfrm>
        </p:grpSpPr>
        <p:sp>
          <p:nvSpPr>
            <p:cNvPr id="11" name="TextBox 11"/>
            <p:cNvSpPr txBox="1"/>
            <p:nvPr/>
          </p:nvSpPr>
          <p:spPr>
            <a:xfrm>
              <a:off x="0" y="2079516"/>
              <a:ext cx="10234256" cy="1552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42"/>
                </a:lnSpc>
              </a:pPr>
              <a:r>
                <a:rPr lang="en-US" sz="7298" b="1" spc="364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GRACIAS!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23825"/>
              <a:ext cx="10234256" cy="19472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31"/>
                </a:lnSpc>
              </a:pPr>
              <a:r>
                <a:rPr lang="en-US" sz="10218">
                  <a:solidFill>
                    <a:srgbClr val="FFFFFF"/>
                  </a:solidFill>
                  <a:latin typeface="Josefin Sans Light"/>
                  <a:ea typeface="Josefin Sans Light"/>
                  <a:cs typeface="Josefin Sans Light"/>
                  <a:sym typeface="Josefin Sans Light"/>
                </a:rPr>
                <a:t>¡Muchas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814</Words>
  <Application>Microsoft Office PowerPoint</Application>
  <PresentationFormat>Custom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Public Sans Bold</vt:lpstr>
      <vt:lpstr>Arial Nova Bold</vt:lpstr>
      <vt:lpstr>Calibri</vt:lpstr>
      <vt:lpstr>Quattrocento Bold</vt:lpstr>
      <vt:lpstr>Raleway Bold</vt:lpstr>
      <vt:lpstr>Open Sans Bold</vt:lpstr>
      <vt:lpstr>Josefin Sans Light</vt:lpstr>
      <vt:lpstr>Arial</vt:lpstr>
      <vt:lpstr>Public Sans</vt:lpstr>
      <vt:lpstr>Montaser Arabic</vt:lpstr>
      <vt:lpstr>Montaser Arabic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Presentacion_Proyecto_HomeCountSimulator</dc:title>
  <cp:lastModifiedBy>BENJAMIN . NUNEZ ARANCIBIA</cp:lastModifiedBy>
  <cp:revision>3</cp:revision>
  <dcterms:created xsi:type="dcterms:W3CDTF">2006-08-16T00:00:00Z</dcterms:created>
  <dcterms:modified xsi:type="dcterms:W3CDTF">2026-09-01T01:03:59Z</dcterms:modified>
  <dc:identifier>DAHT4QuNh5E</dc:identifier>
</cp:coreProperties>
</file>